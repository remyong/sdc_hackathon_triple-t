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2"/>
  </p:notesMasterIdLst>
  <p:sldIdLst>
    <p:sldId id="256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</p:sldIdLst>
  <p:sldSz cx="9144000" cy="5143500" type="screen16x9"/>
  <p:notesSz cx="6858000" cy="9144000"/>
  <p:embeddedFontLst>
    <p:embeddedFont>
      <p:font typeface="Manrope" panose="020B0604020202020204" charset="0"/>
      <p:regular r:id="rId23"/>
      <p:bold r:id="rId24"/>
    </p:embeddedFont>
    <p:embeddedFont>
      <p:font typeface="Nunito Light" pitchFamily="2" charset="0"/>
      <p:regular r:id="rId25"/>
      <p:italic r:id="rId26"/>
    </p:embeddedFont>
    <p:embeddedFont>
      <p:font typeface="PT Sans" panose="020B0503020203020204" pitchFamily="3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</p:embeddedFont>
    <p:embeddedFont>
      <p:font typeface="Roboto Light" panose="02000000000000000000" pitchFamily="2" charset="0"/>
      <p:regular r:id="rId36"/>
      <p: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57F50-A201-6D37-9079-E2F72B18EF09}" v="1" dt="2026-10-24T09:08:41.359"/>
  </p1510:revLst>
</p1510:revInfo>
</file>

<file path=ppt/tableStyles.xml><?xml version="1.0" encoding="utf-8"?>
<a:tblStyleLst xmlns:a="http://schemas.openxmlformats.org/drawingml/2006/main" def="{B7482977-B449-4ACD-B422-566CF958F1E8}">
  <a:tblStyle styleId="{B7482977-B449-4ACD-B422-566CF958F1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D74C6A-9A4E-4CDE-BF06-419C005A76C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85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font" Target="fonts/font12.fntdata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来宾用户" userId="S::urn:spo:tenantanon#dddad7c2-2fe8-404d-80e7-2420d2018539::" providerId="AD" clId="Web-{EAF57F50-A201-6D37-9079-E2F72B18EF09}"/>
    <pc:docChg chg="modSld">
      <pc:chgData name="来宾用户" userId="S::urn:spo:tenantanon#dddad7c2-2fe8-404d-80e7-2420d2018539::" providerId="AD" clId="Web-{EAF57F50-A201-6D37-9079-E2F72B18EF09}" dt="2026-10-24T09:08:41.359" v="0"/>
      <pc:docMkLst>
        <pc:docMk/>
      </pc:docMkLst>
      <pc:sldChg chg="delSp">
        <pc:chgData name="来宾用户" userId="S::urn:spo:tenantanon#dddad7c2-2fe8-404d-80e7-2420d2018539::" providerId="AD" clId="Web-{EAF57F50-A201-6D37-9079-E2F72B18EF09}" dt="2026-10-24T09:08:41.359" v="0"/>
        <pc:sldMkLst>
          <pc:docMk/>
          <pc:sldMk cId="0" sldId="292"/>
        </pc:sldMkLst>
        <pc:spChg chg="del">
          <ac:chgData name="来宾用户" userId="S::urn:spo:tenantanon#dddad7c2-2fe8-404d-80e7-2420d2018539::" providerId="AD" clId="Web-{EAF57F50-A201-6D37-9079-E2F72B18EF09}" dt="2026-10-24T09:08:41.359" v="0"/>
          <ac:spMkLst>
            <pc:docMk/>
            <pc:sldMk cId="0" sldId="292"/>
            <ac:spMk id="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5-year income</c:v>
                </c:pt>
              </c:strCache>
            </c:strRef>
          </c:tx>
          <c:dPt>
            <c:idx val="0"/>
            <c:bubble3D val="0"/>
            <c:spPr>
              <a:solidFill>
                <a:srgbClr val="081F5C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83C1-46BE-99DE-6D8537743D14}"/>
              </c:ext>
            </c:extLst>
          </c:dPt>
          <c:dPt>
            <c:idx val="1"/>
            <c:bubble3D val="0"/>
            <c:spPr>
              <a:solidFill>
                <a:srgbClr val="334EAC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83C1-46BE-99DE-6D8537743D14}"/>
              </c:ext>
            </c:extLst>
          </c:dPt>
          <c:dPt>
            <c:idx val="2"/>
            <c:bubble3D val="0"/>
            <c:spPr>
              <a:solidFill>
                <a:srgbClr val="7096D1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83C1-46BE-99DE-6D8537743D14}"/>
              </c:ext>
            </c:extLst>
          </c:dPt>
          <c:dPt>
            <c:idx val="3"/>
            <c:bubble3D val="0"/>
            <c:spPr>
              <a:solidFill>
                <a:srgbClr val="BAD6EB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83C1-46BE-99DE-6D8537743D14}"/>
              </c:ext>
            </c:extLst>
          </c:dPt>
          <c:dPt>
            <c:idx val="4"/>
            <c:bubble3D val="0"/>
            <c:spPr>
              <a:solidFill>
                <a:srgbClr val="D0E3FF"/>
              </a:solidFill>
              <a:ln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83C1-46BE-99DE-6D8537743D14}"/>
              </c:ext>
            </c:extLst>
          </c:dPt>
          <c:cat>
            <c:strRef>
              <c:f>Sheet1!$A$2:$A$5</c:f>
              <c:strCache>
                <c:ptCount val="4"/>
                <c:pt idx="0">
                  <c:v>Banks</c:v>
                </c:pt>
                <c:pt idx="1">
                  <c:v>Suppliers</c:v>
                </c:pt>
                <c:pt idx="2">
                  <c:v>Packs</c:v>
                </c:pt>
                <c:pt idx="3">
                  <c:v>Analyses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1500000</c:v>
                </c:pt>
                <c:pt idx="1">
                  <c:v>649000</c:v>
                </c:pt>
                <c:pt idx="2">
                  <c:v>328640</c:v>
                </c:pt>
                <c:pt idx="3">
                  <c:v>199520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3C1-46BE-99DE-6D8537743D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overlay val="0"/>
      <c:txPr>
        <a:bodyPr/>
        <a:lstStyle/>
        <a:p>
          <a:pPr>
            <a:defRPr sz="800">
              <a:solidFill>
                <a:srgbClr val="2E3B5E"/>
              </a:solidFill>
              <a:latin typeface="Roboto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1">
                <a:solidFill>
                  <a:srgbClr val="081F5C"/>
                </a:solidFill>
                <a:latin typeface="Manrope"/>
              </a:rPr>
              <a:t>Orbyte's income, spend and cumulative net from GreenReady (RM)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75460</c:v>
                </c:pt>
                <c:pt idx="1">
                  <c:v>260100</c:v>
                </c:pt>
                <c:pt idx="2">
                  <c:v>469200</c:v>
                </c:pt>
                <c:pt idx="3">
                  <c:v>758400</c:v>
                </c:pt>
                <c:pt idx="4">
                  <c:v>1114000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FF-48D7-8C0D-B51420550E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140110</c:v>
                </c:pt>
                <c:pt idx="1">
                  <c:v>177845</c:v>
                </c:pt>
                <c:pt idx="2">
                  <c:v>274326</c:v>
                </c:pt>
                <c:pt idx="3">
                  <c:v>444699</c:v>
                </c:pt>
                <c:pt idx="4">
                  <c:v>566255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FF-48D7-8C0D-B51420550E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net</c:v>
                </c:pt>
              </c:strCache>
            </c:strRef>
          </c:tx>
          <c:spPr>
            <a:ln w="28575" cap="rnd">
              <a:solidFill>
                <a:srgbClr val="081F5C"/>
              </a:solidFill>
            </a:ln>
          </c:spPr>
          <c:marker>
            <c:symbol val="circle"/>
            <c:size val="6"/>
            <c:spPr>
              <a:solidFill>
                <a:srgbClr val="081F5C"/>
              </a:solidFill>
              <a:ln>
                <a:solidFill>
                  <a:srgbClr val="FFFFFF"/>
                </a:solidFill>
              </a:ln>
            </c:spPr>
          </c:marker>
          <c:dLbls>
            <c:numFmt formatCode="#,##0,&quot;k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chemeClr val="accent4">
                        <a:lumMod val="10000"/>
                      </a:schemeClr>
                    </a:solidFill>
                    <a:latin typeface="Roboto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-64650</c:v>
                </c:pt>
                <c:pt idx="1">
                  <c:v>17605</c:v>
                </c:pt>
                <c:pt idx="2">
                  <c:v>212479</c:v>
                </c:pt>
                <c:pt idx="3">
                  <c:v>526180</c:v>
                </c:pt>
                <c:pt idx="4">
                  <c:v>1073925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2FF-48D7-8C0D-B51420550E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3CCDB"/>
            </a:solidFill>
          </a:ln>
        </c:spPr>
        <c:txPr>
          <a:bodyPr/>
          <a:lstStyle/>
          <a:p>
            <a:pPr>
              <a:defRPr sz="800">
                <a:solidFill>
                  <a:srgbClr val="5E6B8A"/>
                </a:solidFill>
                <a:latin typeface="Robot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DE3EC"/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E6B8A"/>
                </a:solidFill>
                <a:latin typeface="Roboto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2E3B5E"/>
              </a:solidFill>
              <a:latin typeface="Roboto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4fdd1721c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4fdd1721c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DB60950-5953-9D54-9B69-9C4EEA0DB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4fdd1721c6_1_0:notes">
            <a:extLst>
              <a:ext uri="{FF2B5EF4-FFF2-40B4-BE49-F238E27FC236}">
                <a16:creationId xmlns:a16="http://schemas.microsoft.com/office/drawing/2014/main" id="{4E6F0335-47D8-ECAC-1B0F-1FEC4AD3A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4fdd1721c6_1_0:notes">
            <a:extLst>
              <a:ext uri="{FF2B5EF4-FFF2-40B4-BE49-F238E27FC236}">
                <a16:creationId xmlns:a16="http://schemas.microsoft.com/office/drawing/2014/main" id="{5BF9A5A8-07C8-7FA1-2B7F-5C474BEEF8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937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26150" y="1491750"/>
            <a:ext cx="4804500" cy="21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 b="1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18025" y="539500"/>
            <a:ext cx="20160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67244" r="16177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14" name="Google Shape;14;p2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15" name="Google Shape;15;p2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94225" y="2233825"/>
            <a:ext cx="49830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094225" y="752425"/>
            <a:ext cx="1194000" cy="87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0" name="Google Shape;20;p3"/>
          <p:cNvGrpSpPr/>
          <p:nvPr/>
        </p:nvGrpSpPr>
        <p:grpSpPr>
          <a:xfrm>
            <a:off x="0" y="0"/>
            <a:ext cx="9144000" cy="3957624"/>
            <a:chOff x="0" y="0"/>
            <a:chExt cx="9144000" cy="3957624"/>
          </a:xfrm>
        </p:grpSpPr>
        <p:pic>
          <p:nvPicPr>
            <p:cNvPr id="21" name="Google Shape;21;p3"/>
            <p:cNvPicPr preferRelativeResize="0"/>
            <p:nvPr/>
          </p:nvPicPr>
          <p:blipFill rotWithShape="1">
            <a:blip r:embed="rId2">
              <a:alphaModFix/>
            </a:blip>
            <a:srcRect b="89238"/>
            <a:stretch/>
          </p:blipFill>
          <p:spPr>
            <a:xfrm>
              <a:off x="5695725" y="0"/>
              <a:ext cx="3448275" cy="3710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2" name="Google Shape;22;p3"/>
            <p:cNvPicPr preferRelativeResize="0"/>
            <p:nvPr/>
          </p:nvPicPr>
          <p:blipFill rotWithShape="1">
            <a:blip r:embed="rId2">
              <a:alphaModFix/>
            </a:blip>
            <a:srcRect l="28450" r="46133"/>
            <a:stretch/>
          </p:blipFill>
          <p:spPr>
            <a:xfrm>
              <a:off x="0" y="2233825"/>
              <a:ext cx="438151" cy="1723799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3" name="Google Shape;23;p3"/>
          <p:cNvGrpSpPr/>
          <p:nvPr/>
        </p:nvGrpSpPr>
        <p:grpSpPr>
          <a:xfrm>
            <a:off x="713225" y="752475"/>
            <a:ext cx="7739700" cy="4022375"/>
            <a:chOff x="713225" y="752475"/>
            <a:chExt cx="7739700" cy="4022375"/>
          </a:xfrm>
        </p:grpSpPr>
        <p:cxnSp>
          <p:nvCxnSpPr>
            <p:cNvPr id="24" name="Google Shape;24;p3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3"/>
            <p:cNvCxnSpPr/>
            <p:nvPr/>
          </p:nvCxnSpPr>
          <p:spPr>
            <a:xfrm rot="10800000">
              <a:off x="713225" y="752475"/>
              <a:ext cx="0" cy="879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170425" y="1460700"/>
            <a:ext cx="3558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170425" y="2539800"/>
            <a:ext cx="3558900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2190525" y="33584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2190525" y="1881775"/>
            <a:ext cx="6081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2190525" y="15064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2190525" y="2983175"/>
            <a:ext cx="6081300" cy="4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36" name="Google Shape;36;p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l="79576" r="9658"/>
          <a:stretch/>
        </p:blipFill>
        <p:spPr>
          <a:xfrm>
            <a:off x="0" y="1506475"/>
            <a:ext cx="281551" cy="2615201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0" y="-4975"/>
            <a:ext cx="9143999" cy="5148463"/>
            <a:chOff x="0" y="-4975"/>
            <a:chExt cx="9143999" cy="5148463"/>
          </a:xfrm>
        </p:grpSpPr>
        <p:pic>
          <p:nvPicPr>
            <p:cNvPr id="41" name="Google Shape;41;p6"/>
            <p:cNvPicPr preferRelativeResize="0"/>
            <p:nvPr/>
          </p:nvPicPr>
          <p:blipFill rotWithShape="1">
            <a:blip r:embed="rId2">
              <a:alphaModFix/>
            </a:blip>
            <a:srcRect t="6078" b="76833"/>
            <a:stretch/>
          </p:blipFill>
          <p:spPr>
            <a:xfrm>
              <a:off x="7025425" y="-4975"/>
              <a:ext cx="2118574" cy="3753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42" name="Google Shape;42;p6"/>
            <p:cNvPicPr preferRelativeResize="0"/>
            <p:nvPr/>
          </p:nvPicPr>
          <p:blipFill rotWithShape="1">
            <a:blip r:embed="rId3">
              <a:alphaModFix/>
            </a:blip>
            <a:srcRect l="67244" r="16177"/>
            <a:stretch/>
          </p:blipFill>
          <p:spPr>
            <a:xfrm>
              <a:off x="0" y="2489212"/>
              <a:ext cx="281551" cy="2654275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43" name="Google Shape;43;p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1150775"/>
            <a:ext cx="414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13225" y="1866025"/>
            <a:ext cx="414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5643775" y="724200"/>
            <a:ext cx="2787000" cy="36951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8" name="Google Shape;48;p7"/>
          <p:cNvGrpSpPr/>
          <p:nvPr/>
        </p:nvGrpSpPr>
        <p:grpSpPr>
          <a:xfrm>
            <a:off x="0" y="-4250"/>
            <a:ext cx="9144001" cy="5147738"/>
            <a:chOff x="0" y="-4250"/>
            <a:chExt cx="9144001" cy="5147738"/>
          </a:xfrm>
        </p:grpSpPr>
        <p:pic>
          <p:nvPicPr>
            <p:cNvPr id="49" name="Google Shape;49;p7"/>
            <p:cNvPicPr preferRelativeResize="0"/>
            <p:nvPr/>
          </p:nvPicPr>
          <p:blipFill rotWithShape="1">
            <a:blip r:embed="rId2">
              <a:alphaModFix/>
            </a:blip>
            <a:srcRect t="1777" b="81134"/>
            <a:stretch/>
          </p:blipFill>
          <p:spPr>
            <a:xfrm>
              <a:off x="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0" name="Google Shape;50;p7"/>
            <p:cNvPicPr preferRelativeResize="0"/>
            <p:nvPr/>
          </p:nvPicPr>
          <p:blipFill rotWithShape="1">
            <a:blip r:embed="rId3">
              <a:alphaModFix/>
            </a:blip>
            <a:srcRect l="67244" r="16177"/>
            <a:stretch/>
          </p:blipFill>
          <p:spPr>
            <a:xfrm>
              <a:off x="8797650" y="3054460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51" name="Google Shape;51;p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55" name="Google Shape;55;p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 l="67244" r="16177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57" name="Google Shape;57;p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58" name="Google Shape;58;p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grpSp>
        <p:nvGrpSpPr>
          <p:cNvPr id="64" name="Google Shape;64;p9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 hasCustomPrompt="1"/>
          </p:nvPr>
        </p:nvSpPr>
        <p:spPr>
          <a:xfrm>
            <a:off x="5749075" y="3159700"/>
            <a:ext cx="2681700" cy="11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2" name="Google Shape;72;p11"/>
          <p:cNvSpPr txBox="1">
            <a:spLocks noGrp="1"/>
          </p:cNvSpPr>
          <p:nvPr>
            <p:ph type="subTitle" idx="1"/>
          </p:nvPr>
        </p:nvSpPr>
        <p:spPr>
          <a:xfrm>
            <a:off x="1018025" y="539500"/>
            <a:ext cx="23424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73" name="Google Shape;73;p11"/>
          <p:cNvPicPr preferRelativeResize="0"/>
          <p:nvPr/>
        </p:nvPicPr>
        <p:blipFill rotWithShape="1">
          <a:blip r:embed="rId2">
            <a:alphaModFix/>
          </a:blip>
          <a:srcRect l="67244"/>
          <a:stretch/>
        </p:blipFill>
        <p:spPr>
          <a:xfrm>
            <a:off x="0" y="2136825"/>
            <a:ext cx="556251" cy="2089049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cxnSp>
        <p:nvCxnSpPr>
          <p:cNvPr id="74" name="Google Shape;74;p11"/>
          <p:cNvCxnSpPr/>
          <p:nvPr/>
        </p:nvCxnSpPr>
        <p:spPr>
          <a:xfrm>
            <a:off x="2445125" y="4774850"/>
            <a:ext cx="600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796200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796200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3439738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3439738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083275" y="1584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 hasCustomPrompt="1"/>
          </p:nvPr>
        </p:nvSpPr>
        <p:spPr>
          <a:xfrm>
            <a:off x="6083275" y="309400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796200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439738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6083275" y="2064875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796200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439738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083275" y="3574550"/>
            <a:ext cx="23475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0" y="0"/>
            <a:ext cx="9150050" cy="4122174"/>
            <a:chOff x="0" y="0"/>
            <a:chExt cx="9150050" cy="4122174"/>
          </a:xfrm>
        </p:grpSpPr>
        <p:pic>
          <p:nvPicPr>
            <p:cNvPr id="91" name="Google Shape;91;p13"/>
            <p:cNvPicPr preferRelativeResize="0"/>
            <p:nvPr/>
          </p:nvPicPr>
          <p:blipFill rotWithShape="1">
            <a:blip r:embed="rId2">
              <a:alphaModFix/>
            </a:blip>
            <a:srcRect l="62264" r="26820"/>
            <a:stretch/>
          </p:blipFill>
          <p:spPr>
            <a:xfrm flipH="1">
              <a:off x="0" y="1542875"/>
              <a:ext cx="281551" cy="25792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92" name="Google Shape;92;p13"/>
            <p:cNvPicPr preferRelativeResize="0"/>
            <p:nvPr/>
          </p:nvPicPr>
          <p:blipFill rotWithShape="1">
            <a:blip r:embed="rId2">
              <a:alphaModFix/>
            </a:blip>
            <a:srcRect t="15290" b="58440"/>
            <a:stretch/>
          </p:blipFill>
          <p:spPr>
            <a:xfrm flipH="1">
              <a:off x="7737475" y="0"/>
              <a:ext cx="1412575" cy="3710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93" name="Google Shape;93;p13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3578700" y="15643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3578700" y="253535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3578700" y="3506400"/>
            <a:ext cx="48453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4"/>
          </p:nvPr>
        </p:nvSpPr>
        <p:spPr>
          <a:xfrm>
            <a:off x="1846625" y="15643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1846625" y="253535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6"/>
          </p:nvPr>
        </p:nvSpPr>
        <p:spPr>
          <a:xfrm>
            <a:off x="1846625" y="3506400"/>
            <a:ext cx="1667100" cy="7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103" name="Google Shape;103;p14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04" name="Google Shape;104;p14"/>
            <p:cNvPicPr preferRelativeResize="0"/>
            <p:nvPr/>
          </p:nvPicPr>
          <p:blipFill rotWithShape="1">
            <a:blip r:embed="rId3">
              <a:alphaModFix/>
            </a:blip>
            <a:srcRect l="67244" r="16177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05" name="Google Shape;105;p1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1"/>
          </p:nvPr>
        </p:nvSpPr>
        <p:spPr>
          <a:xfrm>
            <a:off x="1550624" y="1748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2"/>
          </p:nvPr>
        </p:nvSpPr>
        <p:spPr>
          <a:xfrm>
            <a:off x="5667945" y="1748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ubTitle" idx="3"/>
          </p:nvPr>
        </p:nvSpPr>
        <p:spPr>
          <a:xfrm>
            <a:off x="1550624" y="3412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4"/>
          </p:nvPr>
        </p:nvSpPr>
        <p:spPr>
          <a:xfrm>
            <a:off x="5667945" y="3412900"/>
            <a:ext cx="2736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5"/>
          </p:nvPr>
        </p:nvSpPr>
        <p:spPr>
          <a:xfrm>
            <a:off x="1550625" y="1457450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subTitle" idx="6"/>
          </p:nvPr>
        </p:nvSpPr>
        <p:spPr>
          <a:xfrm>
            <a:off x="1550625" y="3121425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ubTitle" idx="7"/>
          </p:nvPr>
        </p:nvSpPr>
        <p:spPr>
          <a:xfrm>
            <a:off x="5667914" y="1457450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8"/>
          </p:nvPr>
        </p:nvSpPr>
        <p:spPr>
          <a:xfrm>
            <a:off x="5667914" y="3121425"/>
            <a:ext cx="2736000" cy="3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16" name="Google Shape;116;p15"/>
          <p:cNvGrpSpPr/>
          <p:nvPr/>
        </p:nvGrpSpPr>
        <p:grpSpPr>
          <a:xfrm>
            <a:off x="0" y="0"/>
            <a:ext cx="9144001" cy="3923299"/>
            <a:chOff x="0" y="0"/>
            <a:chExt cx="9144001" cy="3923299"/>
          </a:xfrm>
        </p:grpSpPr>
        <p:pic>
          <p:nvPicPr>
            <p:cNvPr id="117" name="Google Shape;117;p15"/>
            <p:cNvPicPr preferRelativeResize="0"/>
            <p:nvPr/>
          </p:nvPicPr>
          <p:blipFill rotWithShape="1">
            <a:blip r:embed="rId2">
              <a:alphaModFix/>
            </a:blip>
            <a:srcRect r="65966" b="6577"/>
            <a:stretch/>
          </p:blipFill>
          <p:spPr>
            <a:xfrm>
              <a:off x="8797650" y="1834250"/>
              <a:ext cx="346351" cy="208904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18" name="Google Shape;118;p15"/>
            <p:cNvPicPr preferRelativeResize="0"/>
            <p:nvPr/>
          </p:nvPicPr>
          <p:blipFill rotWithShape="1">
            <a:blip r:embed="rId3">
              <a:alphaModFix/>
            </a:blip>
            <a:srcRect t="51424" b="26280"/>
            <a:stretch/>
          </p:blipFill>
          <p:spPr>
            <a:xfrm>
              <a:off x="0" y="0"/>
              <a:ext cx="3181899" cy="375300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19" name="Google Shape;119;p1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1017326" y="178635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3709511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1017326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709499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6401672" y="1786359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6401672" y="3346400"/>
            <a:ext cx="1975200" cy="10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ubTitle" idx="7"/>
          </p:nvPr>
        </p:nvSpPr>
        <p:spPr>
          <a:xfrm>
            <a:off x="1017326" y="1258579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subTitle" idx="8"/>
          </p:nvPr>
        </p:nvSpPr>
        <p:spPr>
          <a:xfrm>
            <a:off x="3709511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9"/>
          </p:nvPr>
        </p:nvSpPr>
        <p:spPr>
          <a:xfrm>
            <a:off x="6401672" y="1258588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ubTitle" idx="13"/>
          </p:nvPr>
        </p:nvSpPr>
        <p:spPr>
          <a:xfrm>
            <a:off x="1017326" y="2815504"/>
            <a:ext cx="1975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subTitle" idx="14"/>
          </p:nvPr>
        </p:nvSpPr>
        <p:spPr>
          <a:xfrm>
            <a:off x="3709511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subTitle" idx="15"/>
          </p:nvPr>
        </p:nvSpPr>
        <p:spPr>
          <a:xfrm>
            <a:off x="6401672" y="281550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34" name="Google Shape;134;p16"/>
          <p:cNvGrpSpPr/>
          <p:nvPr/>
        </p:nvGrpSpPr>
        <p:grpSpPr>
          <a:xfrm>
            <a:off x="-12350" y="0"/>
            <a:ext cx="9176501" cy="3722113"/>
            <a:chOff x="-12350" y="0"/>
            <a:chExt cx="9176501" cy="3722113"/>
          </a:xfrm>
        </p:grpSpPr>
        <p:pic>
          <p:nvPicPr>
            <p:cNvPr id="135" name="Google Shape;135;p16"/>
            <p:cNvPicPr preferRelativeResize="0"/>
            <p:nvPr/>
          </p:nvPicPr>
          <p:blipFill rotWithShape="1">
            <a:blip r:embed="rId2">
              <a:alphaModFix/>
            </a:blip>
            <a:srcRect l="67244" r="16177"/>
            <a:stretch/>
          </p:blipFill>
          <p:spPr>
            <a:xfrm>
              <a:off x="-12350" y="163308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36" name="Google Shape;136;p16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17800" y="0"/>
              <a:ext cx="346351" cy="12586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37" name="Google Shape;137;p1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_AND_BODY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1170425" y="1052150"/>
            <a:ext cx="34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body" idx="1"/>
          </p:nvPr>
        </p:nvSpPr>
        <p:spPr>
          <a:xfrm>
            <a:off x="1170425" y="1595575"/>
            <a:ext cx="3401700" cy="24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141" name="Google Shape;141;p17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2" name="Google Shape;142;p17"/>
          <p:cNvPicPr preferRelativeResize="0"/>
          <p:nvPr/>
        </p:nvPicPr>
        <p:blipFill rotWithShape="1">
          <a:blip r:embed="rId2">
            <a:alphaModFix/>
          </a:blip>
          <a:srcRect l="74376" t="44976" r="9044" b="44976"/>
          <a:stretch/>
        </p:blipFill>
        <p:spPr>
          <a:xfrm>
            <a:off x="0" y="0"/>
            <a:ext cx="3181899" cy="375300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>
            <a:spLocks noGrp="1"/>
          </p:cNvSpPr>
          <p:nvPr>
            <p:ph type="title" hasCustomPrompt="1"/>
          </p:nvPr>
        </p:nvSpPr>
        <p:spPr>
          <a:xfrm>
            <a:off x="5004849" y="2024400"/>
            <a:ext cx="318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1"/>
          </p:nvPr>
        </p:nvSpPr>
        <p:spPr>
          <a:xfrm>
            <a:off x="5004849" y="2646798"/>
            <a:ext cx="31890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 idx="2" hasCustomPrompt="1"/>
          </p:nvPr>
        </p:nvSpPr>
        <p:spPr>
          <a:xfrm>
            <a:off x="5004849" y="768050"/>
            <a:ext cx="318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3"/>
          </p:nvPr>
        </p:nvSpPr>
        <p:spPr>
          <a:xfrm>
            <a:off x="5004849" y="1390597"/>
            <a:ext cx="31890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title" idx="4" hasCustomPrompt="1"/>
          </p:nvPr>
        </p:nvSpPr>
        <p:spPr>
          <a:xfrm>
            <a:off x="5004849" y="3280750"/>
            <a:ext cx="31890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5"/>
          </p:nvPr>
        </p:nvSpPr>
        <p:spPr>
          <a:xfrm>
            <a:off x="5004849" y="3903000"/>
            <a:ext cx="3189000" cy="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>
            <a:spLocks noGrp="1"/>
          </p:cNvSpPr>
          <p:nvPr>
            <p:ph type="pic" idx="6"/>
          </p:nvPr>
        </p:nvSpPr>
        <p:spPr>
          <a:xfrm>
            <a:off x="1151725" y="768075"/>
            <a:ext cx="2681700" cy="3455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1" name="Google Shape;151;p18"/>
          <p:cNvPicPr preferRelativeResize="0"/>
          <p:nvPr/>
        </p:nvPicPr>
        <p:blipFill rotWithShape="1">
          <a:blip r:embed="rId2">
            <a:alphaModFix/>
          </a:blip>
          <a:srcRect t="79394" b="3517"/>
          <a:stretch/>
        </p:blipFill>
        <p:spPr>
          <a:xfrm>
            <a:off x="7438574" y="0"/>
            <a:ext cx="1705425" cy="370324"/>
          </a:xfrm>
          <a:prstGeom prst="rect">
            <a:avLst/>
          </a:prstGeom>
          <a:noFill/>
          <a:ln>
            <a:noFill/>
          </a:ln>
          <a:effectLst>
            <a:outerShdw blurRad="285750" dist="133350" dir="8220000" algn="bl" rotWithShape="0">
              <a:schemeClr val="accent3"/>
            </a:outerShdw>
          </a:effectLst>
        </p:spPr>
      </p:pic>
      <p:cxnSp>
        <p:nvCxnSpPr>
          <p:cNvPr id="152" name="Google Shape;152;p18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5" name="Google Shape;155;p1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6" name="Google Shape;156;p19"/>
          <p:cNvGrpSpPr/>
          <p:nvPr/>
        </p:nvGrpSpPr>
        <p:grpSpPr>
          <a:xfrm>
            <a:off x="0" y="0"/>
            <a:ext cx="9144000" cy="3936375"/>
            <a:chOff x="0" y="0"/>
            <a:chExt cx="9144000" cy="3936375"/>
          </a:xfrm>
        </p:grpSpPr>
        <p:pic>
          <p:nvPicPr>
            <p:cNvPr id="157" name="Google Shape;157;p19"/>
            <p:cNvPicPr preferRelativeResize="0"/>
            <p:nvPr/>
          </p:nvPicPr>
          <p:blipFill rotWithShape="1">
            <a:blip r:embed="rId2">
              <a:alphaModFix/>
            </a:blip>
            <a:srcRect t="71979" b="18930"/>
            <a:stretch/>
          </p:blipFill>
          <p:spPr>
            <a:xfrm flipH="1">
              <a:off x="0" y="0"/>
              <a:ext cx="2585350" cy="235024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2460000" algn="bl" rotWithShape="0">
                <a:schemeClr val="accent3"/>
              </a:outerShdw>
            </a:effectLst>
          </p:spPr>
        </p:pic>
        <p:pic>
          <p:nvPicPr>
            <p:cNvPr id="158" name="Google Shape;158;p19"/>
            <p:cNvPicPr preferRelativeResize="0"/>
            <p:nvPr/>
          </p:nvPicPr>
          <p:blipFill rotWithShape="1">
            <a:blip r:embed="rId2">
              <a:alphaModFix/>
            </a:blip>
            <a:srcRect l="85659" r="1362"/>
            <a:stretch/>
          </p:blipFill>
          <p:spPr>
            <a:xfrm>
              <a:off x="8862450" y="1767225"/>
              <a:ext cx="281551" cy="21691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2" name="Google Shape;162;p20"/>
          <p:cNvGrpSpPr/>
          <p:nvPr/>
        </p:nvGrpSpPr>
        <p:grpSpPr>
          <a:xfrm>
            <a:off x="0" y="0"/>
            <a:ext cx="9143999" cy="5143499"/>
            <a:chOff x="0" y="0"/>
            <a:chExt cx="9143999" cy="5143499"/>
          </a:xfrm>
        </p:grpSpPr>
        <p:pic>
          <p:nvPicPr>
            <p:cNvPr id="163" name="Google Shape;163;p20"/>
            <p:cNvPicPr preferRelativeResize="0"/>
            <p:nvPr/>
          </p:nvPicPr>
          <p:blipFill rotWithShape="1">
            <a:blip r:embed="rId2">
              <a:alphaModFix/>
            </a:blip>
            <a:srcRect t="5471" b="71349"/>
            <a:stretch/>
          </p:blipFill>
          <p:spPr>
            <a:xfrm>
              <a:off x="7524725" y="0"/>
              <a:ext cx="1619274" cy="375351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64" name="Google Shape;164;p20"/>
            <p:cNvPicPr preferRelativeResize="0"/>
            <p:nvPr/>
          </p:nvPicPr>
          <p:blipFill rotWithShape="1">
            <a:blip r:embed="rId2">
              <a:alphaModFix/>
            </a:blip>
            <a:srcRect l="17732" r="68790"/>
            <a:stretch/>
          </p:blipFill>
          <p:spPr>
            <a:xfrm>
              <a:off x="0" y="3054450"/>
              <a:ext cx="281551" cy="2089049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7" name="Google Shape;167;p21"/>
          <p:cNvGrpSpPr/>
          <p:nvPr/>
        </p:nvGrpSpPr>
        <p:grpSpPr>
          <a:xfrm>
            <a:off x="0" y="0"/>
            <a:ext cx="9144001" cy="4182599"/>
            <a:chOff x="0" y="0"/>
            <a:chExt cx="9144001" cy="4182599"/>
          </a:xfrm>
        </p:grpSpPr>
        <p:pic>
          <p:nvPicPr>
            <p:cNvPr id="168" name="Google Shape;168;p21"/>
            <p:cNvPicPr preferRelativeResize="0"/>
            <p:nvPr/>
          </p:nvPicPr>
          <p:blipFill rotWithShape="1">
            <a:blip r:embed="rId2">
              <a:alphaModFix/>
            </a:blip>
            <a:srcRect l="9309" r="55614"/>
            <a:stretch/>
          </p:blipFill>
          <p:spPr>
            <a:xfrm>
              <a:off x="8797650" y="1270225"/>
              <a:ext cx="346351" cy="2912374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169" name="Google Shape;169;p21"/>
            <p:cNvPicPr preferRelativeResize="0"/>
            <p:nvPr/>
          </p:nvPicPr>
          <p:blipFill rotWithShape="1">
            <a:blip r:embed="rId3">
              <a:alphaModFix/>
            </a:blip>
            <a:srcRect l="1444" t="13894" r="22533" b="60990"/>
            <a:stretch/>
          </p:blipFill>
          <p:spPr>
            <a:xfrm>
              <a:off x="0" y="0"/>
              <a:ext cx="3181899" cy="375300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cxnSp>
        <p:nvCxnSpPr>
          <p:cNvPr id="170" name="Google Shape;170;p21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73" name="Google Shape;173;p22"/>
          <p:cNvGrpSpPr/>
          <p:nvPr/>
        </p:nvGrpSpPr>
        <p:grpSpPr>
          <a:xfrm>
            <a:off x="0" y="-4975"/>
            <a:ext cx="9146324" cy="3721325"/>
            <a:chOff x="0" y="-4975"/>
            <a:chExt cx="9146324" cy="3721325"/>
          </a:xfrm>
        </p:grpSpPr>
        <p:pic>
          <p:nvPicPr>
            <p:cNvPr id="174" name="Google Shape;174;p22"/>
            <p:cNvPicPr preferRelativeResize="0"/>
            <p:nvPr/>
          </p:nvPicPr>
          <p:blipFill rotWithShape="1">
            <a:blip r:embed="rId2">
              <a:alphaModFix/>
            </a:blip>
            <a:srcRect l="67244" r="16177"/>
            <a:stretch/>
          </p:blipFill>
          <p:spPr>
            <a:xfrm>
              <a:off x="0" y="1627300"/>
              <a:ext cx="286999" cy="2089049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75" name="Google Shape;175;p22"/>
            <p:cNvPicPr preferRelativeResize="0"/>
            <p:nvPr/>
          </p:nvPicPr>
          <p:blipFill rotWithShape="1">
            <a:blip r:embed="rId3">
              <a:alphaModFix/>
            </a:blip>
            <a:srcRect t="75209" b="7702"/>
            <a:stretch/>
          </p:blipFill>
          <p:spPr>
            <a:xfrm>
              <a:off x="5964425" y="-4975"/>
              <a:ext cx="3181899" cy="37530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76" name="Google Shape;176;p22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79" name="Google Shape;179;p23"/>
          <p:cNvPicPr preferRelativeResize="0"/>
          <p:nvPr/>
        </p:nvPicPr>
        <p:blipFill rotWithShape="1">
          <a:blip r:embed="rId2">
            <a:alphaModFix/>
          </a:blip>
          <a:srcRect t="67791" b="15120"/>
          <a:stretch/>
        </p:blipFill>
        <p:spPr>
          <a:xfrm>
            <a:off x="8797650" y="1958200"/>
            <a:ext cx="346351" cy="2089049"/>
          </a:xfrm>
          <a:prstGeom prst="rect">
            <a:avLst/>
          </a:prstGeom>
          <a:noFill/>
          <a:ln>
            <a:noFill/>
          </a:ln>
          <a:effectLst>
            <a:outerShdw blurRad="285750" dist="133350" dir="8220000" algn="bl" rotWithShape="0">
              <a:schemeClr val="accent3"/>
            </a:outerShdw>
          </a:effectLst>
        </p:spPr>
      </p:pic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t="74362"/>
          <a:stretch/>
        </p:blipFill>
        <p:spPr>
          <a:xfrm>
            <a:off x="0" y="0"/>
            <a:ext cx="2706299" cy="375300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cxnSp>
        <p:nvCxnSpPr>
          <p:cNvPr id="181" name="Google Shape;181;p23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4" name="Google Shape;184;p24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185" name="Google Shape;185;p24"/>
            <p:cNvPicPr preferRelativeResize="0"/>
            <p:nvPr/>
          </p:nvPicPr>
          <p:blipFill rotWithShape="1">
            <a:blip r:embed="rId2">
              <a:alphaModFix/>
            </a:blip>
            <a:srcRect l="67244" r="16177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186" name="Google Shape;186;p24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187" name="Google Shape;187;p24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7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90" name="Google Shape;190;p25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1" name="Google Shape;191;p25"/>
          <p:cNvPicPr preferRelativeResize="0"/>
          <p:nvPr/>
        </p:nvPicPr>
        <p:blipFill rotWithShape="1">
          <a:blip r:embed="rId2">
            <a:alphaModFix/>
          </a:blip>
          <a:srcRect t="75369"/>
          <a:stretch/>
        </p:blipFill>
        <p:spPr>
          <a:xfrm>
            <a:off x="5962100" y="-4975"/>
            <a:ext cx="3181899" cy="375300"/>
          </a:xfrm>
          <a:prstGeom prst="rect">
            <a:avLst/>
          </a:prstGeom>
          <a:noFill/>
          <a:ln>
            <a:noFill/>
          </a:ln>
          <a:effectLst>
            <a:outerShdw blurRad="285750" dist="133350" dir="8220000" algn="bl" rotWithShape="0">
              <a:schemeClr val="accent3"/>
            </a:outerShdw>
          </a:effectLst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_ONLY_8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94" name="Google Shape;194;p26"/>
          <p:cNvPicPr preferRelativeResize="0"/>
          <p:nvPr/>
        </p:nvPicPr>
        <p:blipFill rotWithShape="1">
          <a:blip r:embed="rId2">
            <a:alphaModFix/>
          </a:blip>
          <a:srcRect l="9778" t="23733" r="3537" b="23738"/>
          <a:stretch/>
        </p:blipFill>
        <p:spPr>
          <a:xfrm>
            <a:off x="0" y="0"/>
            <a:ext cx="3181899" cy="375300"/>
          </a:xfrm>
          <a:prstGeom prst="rect">
            <a:avLst/>
          </a:prstGeom>
          <a:noFill/>
          <a:ln>
            <a:noFill/>
          </a:ln>
          <a:effectLst>
            <a:outerShdw blurRad="428625" dist="133350" dir="2460000" algn="bl" rotWithShape="0">
              <a:schemeClr val="accent3"/>
            </a:outerShdw>
          </a:effectLst>
        </p:spPr>
      </p:pic>
      <p:cxnSp>
        <p:nvCxnSpPr>
          <p:cNvPr id="195" name="Google Shape;195;p26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8"/>
          <p:cNvGrpSpPr/>
          <p:nvPr/>
        </p:nvGrpSpPr>
        <p:grpSpPr>
          <a:xfrm>
            <a:off x="0" y="-4250"/>
            <a:ext cx="9143999" cy="3696713"/>
            <a:chOff x="0" y="-4250"/>
            <a:chExt cx="9143999" cy="3696713"/>
          </a:xfrm>
        </p:grpSpPr>
        <p:pic>
          <p:nvPicPr>
            <p:cNvPr id="203" name="Google Shape;203;p28"/>
            <p:cNvPicPr preferRelativeResize="0"/>
            <p:nvPr/>
          </p:nvPicPr>
          <p:blipFill rotWithShape="1">
            <a:blip r:embed="rId2">
              <a:alphaModFix/>
            </a:blip>
            <a:srcRect t="67791" b="15120"/>
            <a:stretch/>
          </p:blipFill>
          <p:spPr>
            <a:xfrm>
              <a:off x="5962100" y="-4250"/>
              <a:ext cx="3181899" cy="543750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  <p:pic>
          <p:nvPicPr>
            <p:cNvPr id="204" name="Google Shape;204;p28"/>
            <p:cNvPicPr preferRelativeResize="0"/>
            <p:nvPr/>
          </p:nvPicPr>
          <p:blipFill rotWithShape="1">
            <a:blip r:embed="rId3">
              <a:alphaModFix/>
            </a:blip>
            <a:srcRect l="67244" r="16177"/>
            <a:stretch/>
          </p:blipFill>
          <p:spPr>
            <a:xfrm>
              <a:off x="0" y="1603435"/>
              <a:ext cx="346351" cy="2089028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</p:grpSp>
      <p:grpSp>
        <p:nvGrpSpPr>
          <p:cNvPr id="205" name="Google Shape;205;p28"/>
          <p:cNvGrpSpPr/>
          <p:nvPr/>
        </p:nvGrpSpPr>
        <p:grpSpPr>
          <a:xfrm>
            <a:off x="713225" y="539500"/>
            <a:ext cx="7739700" cy="4235350"/>
            <a:chOff x="713225" y="539500"/>
            <a:chExt cx="7739700" cy="4235350"/>
          </a:xfrm>
        </p:grpSpPr>
        <p:cxnSp>
          <p:nvCxnSpPr>
            <p:cNvPr id="206" name="Google Shape;206;p28"/>
            <p:cNvCxnSpPr/>
            <p:nvPr/>
          </p:nvCxnSpPr>
          <p:spPr>
            <a:xfrm>
              <a:off x="2445125" y="4774850"/>
              <a:ext cx="6007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28"/>
            <p:cNvCxnSpPr/>
            <p:nvPr/>
          </p:nvCxnSpPr>
          <p:spPr>
            <a:xfrm rot="10800000">
              <a:off x="713225" y="539500"/>
              <a:ext cx="0" cy="577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9"/>
          <p:cNvGrpSpPr/>
          <p:nvPr/>
        </p:nvGrpSpPr>
        <p:grpSpPr>
          <a:xfrm>
            <a:off x="0" y="0"/>
            <a:ext cx="9172851" cy="4288087"/>
            <a:chOff x="0" y="0"/>
            <a:chExt cx="9172851" cy="4288087"/>
          </a:xfrm>
        </p:grpSpPr>
        <p:pic>
          <p:nvPicPr>
            <p:cNvPr id="210" name="Google Shape;210;p29"/>
            <p:cNvPicPr preferRelativeResize="0"/>
            <p:nvPr/>
          </p:nvPicPr>
          <p:blipFill rotWithShape="1">
            <a:blip r:embed="rId2">
              <a:alphaModFix/>
            </a:blip>
            <a:srcRect l="67244" r="16177"/>
            <a:stretch/>
          </p:blipFill>
          <p:spPr>
            <a:xfrm>
              <a:off x="0" y="1624113"/>
              <a:ext cx="281551" cy="2663974"/>
            </a:xfrm>
            <a:prstGeom prst="rect">
              <a:avLst/>
            </a:prstGeom>
            <a:noFill/>
            <a:ln>
              <a:noFill/>
            </a:ln>
            <a:effectLst>
              <a:outerShdw blurRad="428625" dist="133350" dir="2460000" algn="bl" rotWithShape="0">
                <a:schemeClr val="accent3"/>
              </a:outerShdw>
            </a:effectLst>
          </p:spPr>
        </p:pic>
        <p:pic>
          <p:nvPicPr>
            <p:cNvPr id="211" name="Google Shape;211;p29"/>
            <p:cNvPicPr preferRelativeResize="0"/>
            <p:nvPr/>
          </p:nvPicPr>
          <p:blipFill rotWithShape="1">
            <a:blip r:embed="rId3">
              <a:alphaModFix/>
            </a:blip>
            <a:srcRect t="67791" b="15120"/>
            <a:stretch/>
          </p:blipFill>
          <p:spPr>
            <a:xfrm>
              <a:off x="8826500" y="0"/>
              <a:ext cx="346351" cy="1096799"/>
            </a:xfrm>
            <a:prstGeom prst="rect">
              <a:avLst/>
            </a:prstGeom>
            <a:noFill/>
            <a:ln>
              <a:noFill/>
            </a:ln>
            <a:effectLst>
              <a:outerShdw blurRad="285750" dist="133350" dir="8220000" algn="bl" rotWithShape="0">
                <a:schemeClr val="accent3"/>
              </a:outerShdw>
            </a:effectLst>
          </p:spPr>
        </p:pic>
      </p:grpSp>
      <p:cxnSp>
        <p:nvCxnSpPr>
          <p:cNvPr id="212" name="Google Shape;212;p29"/>
          <p:cNvCxnSpPr/>
          <p:nvPr/>
        </p:nvCxnSpPr>
        <p:spPr>
          <a:xfrm>
            <a:off x="712350" y="4774850"/>
            <a:ext cx="7719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"/>
              <a:buNone/>
              <a:defRPr sz="30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4" r:id="rId26"/>
    <p:sldLayoutId id="2147483675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lusxnergy.com/?p=2574" TargetMode="External"/><Relationship Id="rId13" Type="http://schemas.openxmlformats.org/officeDocument/2006/relationships/hyperlink" Target="https://trexon.my/blog/tnb-tariff-hike-2026-impact-solar-savings" TargetMode="External"/><Relationship Id="rId18" Type="http://schemas.openxmlformats.org/officeDocument/2006/relationships/hyperlink" Target="https://openforest.co/glossary/discount-rate" TargetMode="External"/><Relationship Id="rId3" Type="http://schemas.openxmlformats.org/officeDocument/2006/relationships/hyperlink" Target="https://www.dosm.gov.my/portal-main/release-content/economic-census-2023-food-and-beverage-services-sector" TargetMode="External"/><Relationship Id="rId7" Type="http://schemas.openxmlformats.org/officeDocument/2006/relationships/hyperlink" Target="https://www.thevibes.com/articles/business/116606/smes-hampered-under-mounting-esg-demands" TargetMode="External"/><Relationship Id="rId12" Type="http://schemas.openxmlformats.org/officeDocument/2006/relationships/hyperlink" Target="https://www.epj-conferences.org/10.1051/epjconf/202636301023" TargetMode="External"/><Relationship Id="rId17" Type="http://schemas.openxmlformats.org/officeDocument/2006/relationships/hyperlink" Target="https://www.dfdl.com/insights/legal-and-tax-updates/malaysia-implementation-of-the-personal-data-protection-amendment-act-2024/" TargetMode="External"/><Relationship Id="rId2" Type="http://schemas.openxmlformats.org/officeDocument/2006/relationships/hyperlink" Target="https://smecorp.gov.my/index.php/en/policies/2020-02-11-08-01-24/profile-and-importance-to-the-economy" TargetMode="External"/><Relationship Id="rId16" Type="http://schemas.openxmlformats.org/officeDocument/2006/relationships/hyperlink" Target="https://www.sc.com.my/development/digital/list-of-registered-recognized-market-operators" TargetMode="External"/><Relationship Id="rId20" Type="http://schemas.openxmlformats.org/officeDocument/2006/relationships/hyperlink" Target="https://orbyte.my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businesstoday.com.my/2026/06/29/77-of-malaysian-smes-remain-optimistic-as-energy-management-tops-cost-cutting-agenda-study-shows/" TargetMode="External"/><Relationship Id="rId11" Type="http://schemas.openxmlformats.org/officeDocument/2006/relationships/hyperlink" Target="https://www.sciltp.com/journals/gefr/articles/2603003371" TargetMode="External"/><Relationship Id="rId5" Type="http://schemas.openxmlformats.org/officeDocument/2006/relationships/hyperlink" Target="https://channelx.world/2026/07/smes-spend-twice-the-time-on-admin-as-growing-their-business/" TargetMode="External"/><Relationship Id="rId15" Type="http://schemas.openxmlformats.org/officeDocument/2006/relationships/hyperlink" Target="https://hlb.com.my/SMESolar" TargetMode="External"/><Relationship Id="rId10" Type="http://schemas.openxmlformats.org/officeDocument/2006/relationships/hyperlink" Target="https://irepository.uniten.edu.my/entities/publication/c8d304dd-1a3c-45c0-84d5-eecaeeaf3549/full" TargetMode="External"/><Relationship Id="rId19" Type="http://schemas.openxmlformats.org/officeDocument/2006/relationships/hyperlink" Target="https://ringgitplus.com/en/blog/education-career/median-salary-climbs-5-3-to-rm2940-in-2025.html" TargetMode="External"/><Relationship Id="rId4" Type="http://schemas.openxmlformats.org/officeDocument/2006/relationships/hyperlink" Target="https://www.dosm.gov.my/portal-main/release-content/micro-small--medium-enterprises-msmes-performance-2025" TargetMode="External"/><Relationship Id="rId9" Type="http://schemas.openxmlformats.org/officeDocument/2006/relationships/hyperlink" Target="https://myenergystats.st.gov.my/documents/d/guest/grid-emission-factor-gef-in-malaysia-2022-2024-provisional-" TargetMode="External"/><Relationship Id="rId14" Type="http://schemas.openxmlformats.org/officeDocument/2006/relationships/hyperlink" Target="https://www.bnm.gov.my/lctf2022_en_faq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ctrTitle"/>
          </p:nvPr>
        </p:nvSpPr>
        <p:spPr>
          <a:xfrm>
            <a:off x="3600430" y="748800"/>
            <a:ext cx="4937760" cy="21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4000" err="1"/>
              <a:t>Orbyte</a:t>
            </a:r>
            <a:r>
              <a:rPr lang="en-US" sz="4000"/>
              <a:t>*</a:t>
            </a:r>
            <a:r>
              <a:rPr sz="4000"/>
              <a:t> </a:t>
            </a:r>
            <a:r>
              <a:rPr sz="4000" err="1"/>
              <a:t>GreenReady</a:t>
            </a:r>
            <a:endParaRPr sz="4000"/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334EAC"/>
                </a:solidFill>
                <a:latin typeface="Roboto"/>
              </a:rPr>
              <a:t>From Bills to Better Business</a:t>
            </a:r>
            <a:r>
              <a:rPr lang="en-US" sz="1600" b="0">
                <a:solidFill>
                  <a:srgbClr val="334EAC"/>
                </a:solidFill>
                <a:latin typeface="Roboto"/>
              </a:rPr>
              <a:t>!</a:t>
            </a:r>
            <a:endParaRPr sz="1600" b="0">
              <a:solidFill>
                <a:srgbClr val="334EAC"/>
              </a:solidFill>
              <a:latin typeface="Roboto"/>
            </a:endParaRPr>
          </a:p>
        </p:txBody>
      </p:sp>
      <p:sp>
        <p:nvSpPr>
          <p:cNvPr id="224" name="Google Shape;224;p33"/>
          <p:cNvSpPr txBox="1">
            <a:spLocks noGrp="1"/>
          </p:cNvSpPr>
          <p:nvPr>
            <p:ph type="subTitle" idx="1"/>
          </p:nvPr>
        </p:nvSpPr>
        <p:spPr>
          <a:xfrm>
            <a:off x="731520" y="539500"/>
            <a:ext cx="384048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sz="1200" b="1"/>
              <a:t>XMUM SDC Hackathon 2026</a:t>
            </a:r>
          </a:p>
          <a:p>
            <a:pPr marL="0" indent="0"/>
            <a:r>
              <a:rPr sz="1200" b="1"/>
              <a:t>Domain 2 </a:t>
            </a:r>
            <a:r>
              <a:rPr lang="en-US" sz="1200" b="1"/>
              <a:t>- </a:t>
            </a:r>
            <a:r>
              <a:rPr sz="1200" b="1" err="1"/>
              <a:t>Orbyte</a:t>
            </a:r>
            <a:r>
              <a:rPr sz="1200" b="1"/>
              <a:t> Smart SME Challenge</a:t>
            </a:r>
          </a:p>
        </p:txBody>
      </p:sp>
      <p:sp>
        <p:nvSpPr>
          <p:cNvPr id="225" name="Google Shape;225;p33"/>
          <p:cNvSpPr txBox="1"/>
          <p:nvPr/>
        </p:nvSpPr>
        <p:spPr>
          <a:xfrm>
            <a:off x="3600430" y="3062868"/>
            <a:ext cx="5491531" cy="1471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Name: Triple T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lang="en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Presented By: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Remy Ong Jing Yi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Saeed Omar Abdulrahman Mohammed Salam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Chua Pei Ying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lang="en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Institution: Asia Pacific University of Technology and Innovation (APU)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Picture 2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28800"/>
            <a:ext cx="2194560" cy="1680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Problem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Every month a small business receives a TNB bill, but nobody has the time or know-how to check it, or to work out which upgrade would cut it.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783080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5" name="Picture 4" descr="TbClockHour4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65376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5296" y="1783080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1 · The recurring burden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E3B5E"/>
                </a:solidFill>
                <a:latin typeface="Roboto"/>
              </a:rPr>
              <a:t>Checking the bill by hand is slow, so most owners skip it and only notice a spike when cash runs short.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34EAC"/>
                </a:solidFill>
                <a:latin typeface="Manrope"/>
              </a:rPr>
              <a:t>11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307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E6B8A"/>
                </a:solidFill>
                <a:latin typeface="Roboto"/>
              </a:rPr>
              <a:t>a week owners already spend on admin and finance tasks [4]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36976" y="1783080"/>
            <a:ext cx="0" cy="251460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383280" y="1783080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2" name="Picture 11" descr="TbScale_334E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865376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95344" y="1783080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2 · Upgrade decisions made 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E3B5E"/>
                </a:solidFill>
                <a:latin typeface="Roboto"/>
              </a:rPr>
              <a:t>Quotes arrive in different formats from sellers who push their own product, so owners cannot tell which upgrade pays back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46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34EAC"/>
                </a:solidFill>
                <a:latin typeface="Manrope"/>
              </a:rPr>
              <a:t>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307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E6B8A"/>
                </a:solidFill>
                <a:latin typeface="Roboto"/>
              </a:rPr>
              <a:t>of Malaysian SMEs are seeking technology to improve energy efficiency [5]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07024" y="1783080"/>
            <a:ext cx="0" cy="251460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053328" y="1783080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9" name="Picture 18" descr="TbFileSearch_334E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865376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65392" y="1783080"/>
            <a:ext cx="186537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3 · An evidence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3317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2E3B5E"/>
                </a:solidFill>
                <a:latin typeface="Roboto"/>
              </a:rPr>
              <a:t>SMEs cannot afford consultants to prove savings, so green financing and qualified suppliers stay out of reach.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246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34EAC"/>
                </a:solidFill>
                <a:latin typeface="Manrope"/>
              </a:rPr>
              <a:t>RM20–50k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7307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5E6B8A"/>
                </a:solidFill>
                <a:latin typeface="Roboto"/>
              </a:rPr>
              <a:t>for a professional carbon audit or ISO certification [6]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90371"/>
            <a:ext cx="7717536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B8A"/>
                </a:solidFill>
                <a:latin typeface="Roboto"/>
              </a:rPr>
              <a:t>Who is affected: 195,769 manufacturing and F&amp;B micro and small firms, the most electricity-intensive groups [1][2]. </a:t>
            </a:r>
            <a:br>
              <a:rPr lang="en-US" sz="800" b="0" i="0" dirty="0">
                <a:solidFill>
                  <a:srgbClr val="5E6B8A"/>
                </a:solidFill>
                <a:latin typeface="Roboto"/>
              </a:rPr>
            </a:br>
            <a:r>
              <a:rPr sz="800" b="0" i="0" dirty="0">
                <a:solidFill>
                  <a:srgbClr val="5E6B8A"/>
                </a:solidFill>
                <a:latin typeface="Roboto"/>
              </a:rPr>
              <a:t>MSMEs produced 39.7% of GDP in 2025 [3]</a:t>
            </a:r>
            <a:r>
              <a:rPr lang="en-MY" sz="800" b="0" i="0" dirty="0">
                <a:solidFill>
                  <a:srgbClr val="5E6B8A"/>
                </a:solidFill>
                <a:latin typeface="Roboto"/>
              </a:rPr>
              <a:t>, and </a:t>
            </a:r>
            <a:r>
              <a:rPr sz="800" b="0" i="0" dirty="0">
                <a:solidFill>
                  <a:srgbClr val="5E6B8A"/>
                </a:solidFill>
                <a:latin typeface="Roboto"/>
              </a:rPr>
              <a:t>[4] is a UK survey.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Solution 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Roboto"/>
              </a:rPr>
              <a:t>GreenReady</a:t>
            </a:r>
            <a:r>
              <a:rPr sz="1200" b="0" i="0">
                <a:solidFill>
                  <a:srgbClr val="2E3B5E"/>
                </a:solidFill>
                <a:latin typeface="Roboto"/>
              </a:rPr>
              <a:t> is Orbyte's own new module. A TNB bill arrives through eClaim or WhatsApp; GreenReady checks it, compares upgrades and, only with the owner's approval, lists the business for green investors and suppliers.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874519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5" name="Picture 4" descr="TbBrandWhatsap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84248"/>
            <a:ext cx="237744" cy="23774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1261872" y="2103120"/>
            <a:ext cx="941832" cy="0"/>
          </a:xfrm>
          <a:prstGeom prst="line">
            <a:avLst/>
          </a:prstGeom>
          <a:ln w="15875">
            <a:solidFill>
              <a:srgbClr val="709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478024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096D1"/>
                </a:solidFill>
                <a:latin typeface="Manrop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79191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71800"/>
            <a:ext cx="13898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Staff claim the TNB bill in Orbyte eClaim, or the owner forwards a photo, PDF or screenshot</a:t>
            </a:r>
          </a:p>
        </p:txBody>
      </p:sp>
      <p:sp>
        <p:nvSpPr>
          <p:cNvPr id="10" name="Oval 9"/>
          <p:cNvSpPr/>
          <p:nvPr/>
        </p:nvSpPr>
        <p:spPr>
          <a:xfrm>
            <a:off x="2295144" y="1874519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1" name="Picture 10" descr="Tb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1984248"/>
            <a:ext cx="237744" cy="237744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2843784" y="2103120"/>
            <a:ext cx="941831" cy="0"/>
          </a:xfrm>
          <a:prstGeom prst="line">
            <a:avLst/>
          </a:prstGeom>
          <a:ln w="15875">
            <a:solidFill>
              <a:srgbClr val="709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95144" y="2478024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096D1"/>
                </a:solidFill>
                <a:latin typeface="Manrop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5144" y="2679191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Connected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2971800"/>
            <a:ext cx="13898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AI reads every charge line; SSM profile and a 4-question form are linked</a:t>
            </a:r>
          </a:p>
        </p:txBody>
      </p:sp>
      <p:sp>
        <p:nvSpPr>
          <p:cNvPr id="16" name="Oval 15"/>
          <p:cNvSpPr/>
          <p:nvPr/>
        </p:nvSpPr>
        <p:spPr>
          <a:xfrm>
            <a:off x="3877056" y="1874519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7" name="Picture 16" descr="TbMathFuncti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784" y="1984248"/>
            <a:ext cx="237744" cy="237744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4425696" y="2103120"/>
            <a:ext cx="941832" cy="0"/>
          </a:xfrm>
          <a:prstGeom prst="line">
            <a:avLst/>
          </a:prstGeom>
          <a:ln w="15875">
            <a:solidFill>
              <a:srgbClr val="709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77056" y="2478024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096D1"/>
                </a:solidFill>
                <a:latin typeface="Manrop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2679191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Decision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2971800"/>
            <a:ext cx="13898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Fixed rules: 8 tariff checks, spike alert, savings, payback and CO2e</a:t>
            </a:r>
          </a:p>
        </p:txBody>
      </p:sp>
      <p:sp>
        <p:nvSpPr>
          <p:cNvPr id="22" name="Oval 21"/>
          <p:cNvSpPr/>
          <p:nvPr/>
        </p:nvSpPr>
        <p:spPr>
          <a:xfrm>
            <a:off x="5458968" y="1874519"/>
            <a:ext cx="457200" cy="457200"/>
          </a:xfrm>
          <a:prstGeom prst="ellipse">
            <a:avLst/>
          </a:prstGeom>
          <a:solidFill>
            <a:srgbClr val="08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3" name="Picture 22" descr="TbUser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1984248"/>
            <a:ext cx="237744" cy="237744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6007607" y="2103120"/>
            <a:ext cx="941833" cy="0"/>
          </a:xfrm>
          <a:prstGeom prst="line">
            <a:avLst/>
          </a:prstGeom>
          <a:ln w="15875">
            <a:solidFill>
              <a:srgbClr val="709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58968" y="2478024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096D1"/>
                </a:solidFill>
                <a:latin typeface="Manrop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2679191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Human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2971800"/>
            <a:ext cx="13898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Staff fix fields under 85% confidence; the owner approves the listing and each connection in Orbyte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0" y="1874519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9" name="Picture 28" descr="TbHistor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198424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40880" y="2478024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096D1"/>
                </a:solidFill>
                <a:latin typeface="Manrop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79191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Logged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971800"/>
            <a:ext cx="13898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Preparation Pack, anonymous listing, EOI or proposal, all in Orbyte's audit 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3913632"/>
            <a:ext cx="7717536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34" name="Picture 33" descr="TbShieldCheck_334E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403250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25295" y="395935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081F5C"/>
                </a:solidFill>
                <a:latin typeface="Roboto"/>
              </a:rPr>
              <a:t>No credit scores, ratings or financial advice</a:t>
            </a:r>
          </a:p>
        </p:txBody>
      </p:sp>
      <p:pic>
        <p:nvPicPr>
          <p:cNvPr id="36" name="Picture 35" descr="TbCoin_334EA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8144" y="4032504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767328" y="395935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081F5C"/>
                </a:solidFill>
                <a:latin typeface="Roboto"/>
              </a:rPr>
              <a:t>No upgrade money moves through the platform</a:t>
            </a:r>
          </a:p>
        </p:txBody>
      </p:sp>
      <p:pic>
        <p:nvPicPr>
          <p:cNvPr id="38" name="Picture 37" descr="TbCircleCheck_334E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0175" y="4032504"/>
            <a:ext cx="256032" cy="256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09359" y="3959352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081F5C"/>
                </a:solidFill>
                <a:latin typeface="Roboto"/>
              </a:rPr>
              <a:t>Easy to learn: inside Orbyte, paid from the same credit wallet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What the prototype covers, and what it deliberately leaves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72768"/>
            <a:ext cx="3730752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7190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34EAC"/>
                </a:solidFill>
                <a:latin typeface="Manrope"/>
              </a:rPr>
              <a:t>In scope (prototype)</a:t>
            </a:r>
          </a:p>
        </p:txBody>
      </p:sp>
      <p:pic>
        <p:nvPicPr>
          <p:cNvPr id="6" name="Picture 5" descr="TbCircleCheck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67128"/>
            <a:ext cx="219456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2148840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TNB bills in Peninsular Malaysia (Low Voltage general and domestic tariffs)</a:t>
            </a:r>
          </a:p>
        </p:txBody>
      </p:sp>
      <p:pic>
        <p:nvPicPr>
          <p:cNvPr id="8" name="Picture 7" descr="TbCircleCheck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96896"/>
            <a:ext cx="219456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2578608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Three upgrades: LED lighting, inverter aircon, rooftop solar</a:t>
            </a:r>
          </a:p>
        </p:txBody>
      </p:sp>
      <p:pic>
        <p:nvPicPr>
          <p:cNvPr id="10" name="Picture 9" descr="TbCircleCheck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026664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300837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SME, investor and supplier dashboards with owner approval</a:t>
            </a:r>
          </a:p>
        </p:txBody>
      </p:sp>
      <p:pic>
        <p:nvPicPr>
          <p:cNvPr id="12" name="Picture 11" descr="TbCircleCheck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45643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3438144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Non-binding Expression of Interest and indicative outreach proposals</a:t>
            </a:r>
          </a:p>
        </p:txBody>
      </p:sp>
      <p:pic>
        <p:nvPicPr>
          <p:cNvPr id="14" name="Picture 13" descr="TbCircleCheck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886200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80160" y="3867912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Free credit and pay-per-use via the Orbyte credit wallet (synthetic data)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16" y="1572768"/>
            <a:ext cx="3730752" cy="28346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28616" y="17190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81F5C"/>
                </a:solidFill>
                <a:latin typeface="Manrope"/>
              </a:rPr>
              <a:t>Out of scope</a:t>
            </a:r>
          </a:p>
        </p:txBody>
      </p:sp>
      <p:pic>
        <p:nvPicPr>
          <p:cNvPr id="18" name="Picture 17" descr="TbCircleX_081F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167128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66944" y="219238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Sabah and Sarawak tariffs, smart-meter feeds</a:t>
            </a:r>
          </a:p>
        </p:txBody>
      </p:sp>
      <p:pic>
        <p:nvPicPr>
          <p:cNvPr id="20" name="Picture 19" descr="TbCircleX_081F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2596896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66944" y="2615184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Motors, chillers and refrigeration (see roadmap)</a:t>
            </a:r>
          </a:p>
        </p:txBody>
      </p:sp>
      <p:pic>
        <p:nvPicPr>
          <p:cNvPr id="22" name="Picture 21" descr="TbCircleX_081F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026664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66944" y="300837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Loan applications, credit scores, ratings or financial advice</a:t>
            </a:r>
          </a:p>
        </p:txBody>
      </p:sp>
      <p:pic>
        <p:nvPicPr>
          <p:cNvPr id="24" name="Picture 23" descr="TbCircleX_081F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456432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3453012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Loans, deposits or upgrade payments moving through the platform</a:t>
            </a:r>
          </a:p>
        </p:txBody>
      </p:sp>
      <p:pic>
        <p:nvPicPr>
          <p:cNvPr id="26" name="Picture 25" descr="TbCircleX_081F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886200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66944" y="3922776"/>
            <a:ext cx="2971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2E3B5E"/>
                </a:solidFill>
                <a:latin typeface="Roboto"/>
              </a:rPr>
              <a:t>Real customer data, firm quotations and contracts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SDG 8 comes first, as Domain 2 requires. Lower energy use and emissions are co-benefits.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72768"/>
            <a:ext cx="1792224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1719072"/>
            <a:ext cx="621792" cy="621792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190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anrope"/>
              </a:rPr>
              <a:t>8.2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1755648"/>
            <a:ext cx="80467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E6B8A"/>
                </a:solidFill>
                <a:latin typeface="Manrope"/>
              </a:rPr>
              <a:t>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Productivity through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9504"/>
            <a:ext cx="14264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A manual monthly bill review becomes a forward-and-read task in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13048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34EAC"/>
                </a:solidFill>
                <a:latin typeface="Manrope"/>
              </a:rPr>
              <a:t>≈58,000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87368"/>
            <a:ext cx="1426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admin hours saved in 5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88336" y="1572768"/>
            <a:ext cx="1792224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71216" y="1719072"/>
            <a:ext cx="621792" cy="621792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71216" y="17190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anrope"/>
              </a:rPr>
              <a:t>8.3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755648"/>
            <a:ext cx="80467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E6B8A"/>
                </a:solidFill>
                <a:latin typeface="Manrope"/>
              </a:rPr>
              <a:t>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245059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MSME growth and access to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889504"/>
            <a:ext cx="14264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Micro and small firms plan upgrades and reach green funders and suppliers without a consultant.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3813048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34EAC"/>
                </a:solidFill>
                <a:latin typeface="Manrope"/>
              </a:rPr>
              <a:t>562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4087368"/>
            <a:ext cx="1426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upgrades facilitated in 5 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572768"/>
            <a:ext cx="1792224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46320" y="1719072"/>
            <a:ext cx="621792" cy="621792"/>
          </a:xfrm>
          <a:prstGeom prst="ellipse">
            <a:avLst/>
          </a:prstGeom>
          <a:solidFill>
            <a:srgbClr val="709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17190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anrope"/>
              </a:rPr>
              <a:t>9.3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1755648"/>
            <a:ext cx="80467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E6B8A"/>
                </a:solidFill>
                <a:latin typeface="Manrope"/>
              </a:rPr>
              <a:t>SUPPORTING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45059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Small firms' access to financial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889504"/>
            <a:ext cx="14264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Investors receive consistent, checked bill evidence instead of scattered paperwork.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13048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34EAC"/>
                </a:solidFill>
                <a:latin typeface="Manrope"/>
              </a:rPr>
              <a:t>6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087368"/>
            <a:ext cx="1426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of checked bills in each Preparation Pack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38544" y="1572768"/>
            <a:ext cx="1792224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21424" y="1719072"/>
            <a:ext cx="621792" cy="621792"/>
          </a:xfrm>
          <a:prstGeom prst="ellipse">
            <a:avLst/>
          </a:prstGeom>
          <a:solidFill>
            <a:srgbClr val="BAD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21424" y="1719072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7 ·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1755648"/>
            <a:ext cx="80467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E6B8A"/>
                </a:solidFill>
                <a:latin typeface="Manrope"/>
              </a:rPr>
              <a:t>CO-BENEFIT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1424" y="245059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Clean energy and climate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1424" y="2889504"/>
            <a:ext cx="142646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Lower electricity use and avoided emissions, using the Energy Commission grid factor [8].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3813048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34EAC"/>
                </a:solidFill>
                <a:latin typeface="Manrope"/>
              </a:rPr>
              <a:t>≈1,180 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1424" y="4087368"/>
            <a:ext cx="1426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CO2e avoided, credited 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Technical approach /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88720"/>
            <a:ext cx="7717536" cy="32461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C3CC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606040"/>
            <a:ext cx="77175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E6B8A"/>
                </a:solidFill>
                <a:latin typeface="Roboto"/>
              </a:rPr>
              <a:t>System architecture diagram — to be added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Roboto"/>
              </a:rPr>
              <a:t>Different by design: </a:t>
            </a:r>
            <a:r>
              <a:rPr sz="1200" b="0" i="0">
                <a:solidFill>
                  <a:srgbClr val="2E3B5E"/>
                </a:solidFill>
                <a:latin typeface="Roboto"/>
              </a:rPr>
              <a:t>AI only reads the bill; fixed rules do every calculation.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36192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5" name="Picture 4" descr="TbFileInvoice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190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7592" y="171907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Any-format bill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3969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WhatsApp, photo, PDF or screenshot. AI reads each charge line with a confidence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536192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9" name="Picture 8" descr="TbChecklist_334E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719072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1064" y="171907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8-point bill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13969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Every charge checked against the official TNB tariff, with a spike alert against the 6-month average.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1536192"/>
            <a:ext cx="2450592" cy="1371600"/>
          </a:xfrm>
          <a:prstGeom prst="roundRect">
            <a:avLst>
              <a:gd name="adj" fmla="val 6000"/>
            </a:avLst>
          </a:prstGeom>
          <a:solidFill>
            <a:schemeClr val="accent6">
              <a:lumMod val="25000"/>
            </a:schemeClr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3" name="Picture 12" descr="TbArrowsLeftRigh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719072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74536" y="171907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nrope"/>
              </a:rPr>
              <a:t>Fair upgrade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13969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LED, inverter aircon and solar on the same formulas: cost, yearly saving, payback and CO2e. No seller bias.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42048" y="1417319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08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42048" y="1417319"/>
            <a:ext cx="1051560" cy="23774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 dirty="0">
                <a:solidFill>
                  <a:srgbClr val="FFFFFF"/>
                </a:solidFill>
                <a:latin typeface="Manrope"/>
              </a:rPr>
              <a:t>MOST IMPORTANT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090672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9" name="Picture 18" descr="TbFileCertificate_334E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273552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07592" y="327355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Preparation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694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6 months of checked bills and upgrade estimates in one PDF the owner approves before it is shared.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46704" y="3090672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3" name="Picture 22" descr="TbLayoutDashboard_334E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273552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41064" y="327355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Anonymous Opportunity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3694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Investors and suppliers see bands, not names. Every partner gets the same fair chance.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0176" y="3090672"/>
            <a:ext cx="245059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7" name="Picture 26" descr="TbLockOpen_334E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273552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74536" y="3273552"/>
            <a:ext cx="17190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Consent-based connection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3056" y="3694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The owner accepts or declines each request. Contact details unlock only after a yes.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What makes it unique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Similar tools exist, so we do not claim to be the only one. What stands out is the combination.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572768"/>
          <a:ext cx="771753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Existing option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Gap GreenReady fills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Trexon bill analyzer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Reads a TNB bill and recommends a solar system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A solar seller's funnel: one product, no owner approval or audit log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buySolar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Solar marketplace with installer choice and bank financing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Solar only; no bill checking or other upgrades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UOB U-Energy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One bank's energy-efficiency financing via ESCOs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Single lender; the SME still prepares its own evidence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myTNB app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Usage tracking and bill estimates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Monitoring only; no upgrade comparison, investors or suppliers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Orbyte GreenReady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D0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Checked bill → fair comparison of 3 upgrades → anonymous, consent-based matching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D0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Seller-free, many lenders and suppliers, owner controls every step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D0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Five-year projection, base case, from the financial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13606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81F5C"/>
                </a:solidFill>
                <a:latin typeface="Manrope"/>
              </a:rPr>
              <a:t>149,800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48256"/>
            <a:ext cx="1314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6B8A"/>
                </a:solidFill>
                <a:latin typeface="Roboto"/>
              </a:rPr>
              <a:t>bills analysed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56739" y="1572768"/>
            <a:ext cx="0" cy="77724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93899" y="1572768"/>
            <a:ext cx="13606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34EAC"/>
                </a:solidFill>
                <a:latin typeface="Manrope"/>
              </a:rPr>
              <a:t>≈58,000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3899" y="2048256"/>
            <a:ext cx="1314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6B8A"/>
                </a:solidFill>
                <a:latin typeface="Roboto"/>
              </a:rPr>
              <a:t>admin hours saved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00246" y="1572768"/>
            <a:ext cx="0" cy="77724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37406" y="1572768"/>
            <a:ext cx="13606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34EAC"/>
                </a:solidFill>
                <a:latin typeface="Manrope"/>
              </a:rPr>
              <a:t>562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7406" y="2048256"/>
            <a:ext cx="1314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6B8A"/>
                </a:solidFill>
                <a:latin typeface="Roboto"/>
              </a:rPr>
              <a:t>upgrades completed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3753" y="1572768"/>
            <a:ext cx="0" cy="77724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0913" y="1572768"/>
            <a:ext cx="13606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34EAC"/>
                </a:solidFill>
                <a:latin typeface="Manrope"/>
              </a:rPr>
              <a:t>≈1,180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0913" y="2048256"/>
            <a:ext cx="1314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6B8A"/>
                </a:solidFill>
                <a:latin typeface="Roboto"/>
              </a:rPr>
              <a:t>CO2e avoided (credited)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87260" y="1572768"/>
            <a:ext cx="0" cy="77724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24420" y="1572768"/>
            <a:ext cx="13606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34EAC"/>
                </a:solidFill>
                <a:latin typeface="Manrope"/>
              </a:rPr>
              <a:t>RM1.61M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4420" y="2048256"/>
            <a:ext cx="13149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E6B8A"/>
                </a:solidFill>
                <a:latin typeface="Roboto"/>
              </a:rPr>
              <a:t>value created for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6700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Impact of one typical upgrade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13232" y="2980944"/>
          <a:ext cx="7717536" cy="1170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Upgrade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kWh saved / yr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RM saved / yr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CO2e avoided / yr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Payback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LED lighting (40 tubes)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2,696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1,366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2.0 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1.2 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Inverter aircon (3 units)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3,151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1,597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2.3 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4.1 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81F5C"/>
                          </a:solidFill>
                          <a:latin typeface="Roboto"/>
                        </a:rPr>
                        <a:t>Rooftop solar (30 kWp)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39,600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20,069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29.3 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E3B5E"/>
                          </a:solidFill>
                          <a:latin typeface="Roboto"/>
                        </a:rPr>
                        <a:t>3.0 years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13232" y="4490371"/>
            <a:ext cx="7717536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Tariff RM0.5068/kWh [7]; inverter saving 33% [9]; LED 18 W vs 36 W [10]; solar 1,320 kWh/</a:t>
            </a:r>
            <a:r>
              <a:rPr sz="800" b="0" i="0" err="1">
                <a:solidFill>
                  <a:srgbClr val="5E6B8A"/>
                </a:solidFill>
                <a:latin typeface="Roboto"/>
              </a:rPr>
              <a:t>kWp</a:t>
            </a:r>
            <a:r>
              <a:rPr sz="800" b="0" i="0">
                <a:solidFill>
                  <a:srgbClr val="5E6B8A"/>
                </a:solidFill>
                <a:latin typeface="Roboto"/>
              </a:rPr>
              <a:t> [11]. </a:t>
            </a:r>
            <a:br>
              <a:rPr lang="en-US" sz="800" b="0" i="0">
                <a:solidFill>
                  <a:srgbClr val="5E6B8A"/>
                </a:solidFill>
                <a:latin typeface="Roboto"/>
              </a:rPr>
            </a:br>
            <a:r>
              <a:rPr sz="800" b="0" i="0">
                <a:solidFill>
                  <a:srgbClr val="5E6B8A"/>
                </a:solidFill>
                <a:latin typeface="Roboto"/>
              </a:rPr>
              <a:t>Only 25% of upgrade savings is credited to </a:t>
            </a:r>
            <a:r>
              <a:rPr sz="800" b="0" i="0" err="1">
                <a:solidFill>
                  <a:srgbClr val="5E6B8A"/>
                </a:solidFill>
                <a:latin typeface="Roboto"/>
              </a:rPr>
              <a:t>GreenReady</a:t>
            </a:r>
            <a:r>
              <a:rPr sz="800" b="0" i="0">
                <a:solidFill>
                  <a:srgbClr val="5E6B8A"/>
                </a:solidFill>
                <a:latin typeface="Roboto"/>
              </a:rPr>
              <a:t>. AFA surcharge excluded [12], so savings are conservative.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Target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43000"/>
            <a:ext cx="3017520" cy="3291840"/>
          </a:xfrm>
          <a:prstGeom prst="roundRect">
            <a:avLst>
              <a:gd name="adj" fmla="val 6000"/>
            </a:avLst>
          </a:prstGeom>
          <a:solidFill>
            <a:srgbClr val="081F5C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" y="1371600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5" name="Picture 4" descr="Tb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8132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371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AD6EB"/>
                </a:solidFill>
                <a:latin typeface="Manrope"/>
              </a:rPr>
              <a:t>PRIMARY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659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anrope"/>
              </a:rPr>
              <a:t>SME owners in manufacturing and F&amp;B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0604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anrope"/>
              </a:rPr>
              <a:t>195,769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175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AD6EB"/>
                </a:solidFill>
                <a:latin typeface="Roboto"/>
              </a:rPr>
              <a:t>micro and small firms in our serviceable market [1][2]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2900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Need: a quick monthly bill check and a fair answer on which upgrade pays back first, while keeping control of who sees their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4005072" y="1325880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2" name="Picture 11" descr="TbUsers_334E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408176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3712" y="121615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081F5C"/>
                </a:solidFill>
                <a:latin typeface="Manrope"/>
              </a:rPr>
              <a:t>SME </a:t>
            </a:r>
            <a:r>
              <a:rPr lang="en-MY" sz="1100" b="1" i="0" dirty="0">
                <a:solidFill>
                  <a:srgbClr val="081F5C"/>
                </a:solidFill>
                <a:latin typeface="Manrope"/>
              </a:rPr>
              <a:t>staff</a:t>
            </a:r>
            <a:endParaRPr sz="1100" b="1" i="0" dirty="0">
              <a:solidFill>
                <a:srgbClr val="081F5C"/>
              </a:solidFill>
              <a:latin typeface="Manrop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80760" y="1197864"/>
            <a:ext cx="235000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5E6B8A"/>
                </a:solidFill>
                <a:latin typeface="Roboto"/>
              </a:rPr>
              <a:t>Admin or finance staff who receive the bill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Forward it once; fix only the fields the system flags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5072" y="1947672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05072" y="2167128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17" name="Picture 16" descr="TbBuildingBank_334E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224942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53712" y="2208163"/>
            <a:ext cx="14630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Green investors </a:t>
            </a:r>
            <a:br>
              <a:rPr lang="en-US" sz="1100" b="1" i="0">
                <a:solidFill>
                  <a:srgbClr val="081F5C"/>
                </a:solidFill>
                <a:latin typeface="Manrope"/>
              </a:rPr>
            </a:br>
            <a:r>
              <a:rPr sz="1100" b="1" i="0">
                <a:solidFill>
                  <a:srgbClr val="081F5C"/>
                </a:solidFill>
                <a:latin typeface="Manrope"/>
              </a:rPr>
              <a:t>and banks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39112"/>
            <a:ext cx="235000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5E6B8A"/>
                </a:solidFill>
                <a:latin typeface="Roboto"/>
              </a:rPr>
              <a:t>Green and SME lenders, e.g. LCTF banks [13]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Ready SMEs with checked evidence, matched to their own criteria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05072" y="2788920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005072" y="3008376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2" name="Picture 21" descr="TbSolarPanel_334E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368" y="3090672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53712" y="289864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Suppliers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880360"/>
            <a:ext cx="235000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5E6B8A"/>
                </a:solidFill>
                <a:latin typeface="Roboto"/>
              </a:rPr>
              <a:t>SEDA-registered solar, LED and aircon suppliers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Qualified leads in their product and service area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05072" y="3630168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005072" y="3849624"/>
            <a:ext cx="402336" cy="402336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7" name="Picture 26" descr="TbHexagons_334E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368" y="3931920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53712" y="3739896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Orbyte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721607"/>
            <a:ext cx="235000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 i="0">
                <a:solidFill>
                  <a:srgbClr val="5E6B8A"/>
                </a:solidFill>
                <a:latin typeface="Roboto"/>
              </a:rPr>
              <a:t>Owns and runs GreenReady as a new module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New usage-based income and a monthly reason for SMEs to open Orbyte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Feasibility: market</a:t>
            </a:r>
          </a:p>
        </p:txBody>
      </p:sp>
      <p:sp>
        <p:nvSpPr>
          <p:cNvPr id="3" name="Oval 2"/>
          <p:cNvSpPr/>
          <p:nvPr/>
        </p:nvSpPr>
        <p:spPr>
          <a:xfrm>
            <a:off x="731519" y="1115567"/>
            <a:ext cx="3200400" cy="3200400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57299" y="2167127"/>
            <a:ext cx="2148840" cy="2148840"/>
          </a:xfrm>
          <a:prstGeom prst="ellipse">
            <a:avLst/>
          </a:prstGeom>
          <a:solidFill>
            <a:srgbClr val="BAD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60219" y="3172968"/>
            <a:ext cx="1143000" cy="1143000"/>
          </a:xfrm>
          <a:prstGeom prst="ellipse">
            <a:avLst/>
          </a:prstGeom>
          <a:solidFill>
            <a:srgbClr val="709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19" y="1344167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81F5C"/>
                </a:solidFill>
                <a:latin typeface="Manrope"/>
              </a:rPr>
              <a:t>1.08M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377439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81F5C"/>
                </a:solidFill>
                <a:latin typeface="Manrope"/>
              </a:rPr>
              <a:t>195,769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79" y="3538727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nrope"/>
              </a:rPr>
              <a:t>10,000</a:t>
            </a:r>
          </a:p>
        </p:txBody>
      </p:sp>
      <p:sp>
        <p:nvSpPr>
          <p:cNvPr id="9" name="Oval 8"/>
          <p:cNvSpPr/>
          <p:nvPr/>
        </p:nvSpPr>
        <p:spPr>
          <a:xfrm>
            <a:off x="4434840" y="1280160"/>
            <a:ext cx="201168" cy="201168"/>
          </a:xfrm>
          <a:prstGeom prst="ellipse">
            <a:avLst/>
          </a:prstGeom>
          <a:solidFill>
            <a:srgbClr val="D0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2344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Total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50876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1,081,886 micro and small enterprises in Malaysia [1]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2066543"/>
            <a:ext cx="201168" cy="201168"/>
          </a:xfrm>
          <a:prstGeom prst="ellipse">
            <a:avLst/>
          </a:prstGeom>
          <a:solidFill>
            <a:srgbClr val="BAD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2082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Serviceable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29514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195,769 manufacturing MSMEs and F&amp;B establishments, the most electricity-intensive groups</a:t>
            </a:r>
            <a:r>
              <a:rPr lang="en-MY" sz="950" b="0" i="0">
                <a:solidFill>
                  <a:srgbClr val="2E3B5E"/>
                </a:solidFill>
                <a:latin typeface="Roboto"/>
              </a:rPr>
              <a:t> [1][2]</a:t>
            </a:r>
            <a:endParaRPr sz="950" b="0" i="0">
              <a:solidFill>
                <a:srgbClr val="2E3B5E"/>
              </a:solidFill>
              <a:latin typeface="Robot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34840" y="2852928"/>
            <a:ext cx="201168" cy="201168"/>
          </a:xfrm>
          <a:prstGeom prst="ellipse">
            <a:avLst/>
          </a:prstGeom>
          <a:solidFill>
            <a:srgbClr val="709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80720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Year-5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81528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10,000 active SMEs, only 5.1% of the serviceable market, reached through Orbyte's existing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39312"/>
            <a:ext cx="201168" cy="201168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5935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81F5C"/>
                </a:solidFill>
                <a:latin typeface="Manrope"/>
              </a:rPr>
              <a:t>Year-1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86791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300 SMEs: half of the 600+ SMEs one bank engaged under the LCTF in a quarter [13]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Feasibility: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Orbyte's own module: SMEs pay per use from the credit wallet; banks and suppliers pay for ready leads.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554480"/>
          <a:ext cx="5074920" cy="2523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nrope"/>
                        </a:rPr>
                        <a:t>Revenue stream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nrope"/>
                        </a:rPr>
                        <a:t>Price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nrope"/>
                        </a:rPr>
                        <a:t>Who pays · how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anrope"/>
                        </a:rPr>
                        <a:t>5-yr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F5C"/>
                          </a:solidFill>
                          <a:latin typeface="Roboto"/>
                        </a:rPr>
                        <a:t>Free starting credit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RM10 once (5 analyses)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Orbyte, into the SME's wallet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F5C"/>
                          </a:solidFill>
                          <a:latin typeface="Roboto"/>
                        </a:rPr>
                        <a:t>Bill analysis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RM2 per bill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SME · Orbyte credit wallet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F5C"/>
                          </a:solidFill>
                          <a:latin typeface="Roboto"/>
                        </a:rPr>
                        <a:t>Preparation Pack + 90-day partner access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RM79 per pack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SME · Orbyte credit wallet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12%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F5C"/>
                          </a:solidFill>
                          <a:latin typeface="Roboto"/>
                        </a:rPr>
                        <a:t>Supplier connection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RM200 each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Supplier · after the owner accepts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24%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F5C"/>
                          </a:solidFill>
                          <a:latin typeface="Roboto"/>
                        </a:rPr>
                        <a:t>Bank / investor subscription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RM2,500 /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Bank or green investor · monthly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E3B5E"/>
                          </a:solidFill>
                          <a:latin typeface="Roboto"/>
                        </a:rPr>
                        <a:t>56%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897880" y="1463040"/>
          <a:ext cx="25603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97880" y="3822191"/>
            <a:ext cx="2560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 dirty="0">
                <a:solidFill>
                  <a:srgbClr val="5E6B8A"/>
                </a:solidFill>
                <a:latin typeface="Roboto"/>
              </a:rPr>
              <a:t>RM2.68M over 5 years: </a:t>
            </a:r>
            <a:br>
              <a:rPr lang="en-MY" sz="900" b="0" i="0" dirty="0">
                <a:solidFill>
                  <a:srgbClr val="5E6B8A"/>
                </a:solidFill>
                <a:latin typeface="Roboto"/>
              </a:rPr>
            </a:br>
            <a:r>
              <a:rPr sz="900" b="0" i="0" dirty="0">
                <a:solidFill>
                  <a:srgbClr val="5E6B8A"/>
                </a:solidFill>
                <a:latin typeface="Roboto"/>
              </a:rPr>
              <a:t>20% from SMEs, 80% from banks and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490371"/>
            <a:ext cx="7717536" cy="24622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 dirty="0">
                <a:solidFill>
                  <a:srgbClr val="5E6B8A"/>
                </a:solidFill>
                <a:latin typeface="Roboto"/>
              </a:rPr>
              <a:t>Benchmarks: RM2 ≈ half the admin time saved per bill (≈RM3.90); RM79 ≈ one month of SME cloud accounting (RM35–135); </a:t>
            </a:r>
            <a:br>
              <a:rPr lang="en-MY" sz="800" b="0" i="0" dirty="0">
                <a:solidFill>
                  <a:srgbClr val="5E6B8A"/>
                </a:solidFill>
                <a:latin typeface="Roboto"/>
              </a:rPr>
            </a:br>
            <a:r>
              <a:rPr sz="800" b="0" i="0" dirty="0">
                <a:solidFill>
                  <a:srgbClr val="5E6B8A"/>
                </a:solidFill>
                <a:latin typeface="Roboto"/>
              </a:rPr>
              <a:t>supplier fee under half a commercial solar lead [17]; RM30k/yr per bank ≈ the cost of acquiring 5 fintech customers.</a:t>
            </a:r>
            <a:endParaRPr lang="en-US" sz="800" b="0" i="0" dirty="0">
              <a:solidFill>
                <a:srgbClr val="5E6B8A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ROI calculation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643842"/>
              </p:ext>
            </p:extLst>
          </p:nvPr>
        </p:nvGraphicFramePr>
        <p:xfrm>
          <a:off x="640080" y="1051560"/>
          <a:ext cx="44805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349240" y="1115568"/>
            <a:ext cx="3081528" cy="987552"/>
          </a:xfrm>
          <a:prstGeom prst="roundRect">
            <a:avLst>
              <a:gd name="adj" fmla="val 6000"/>
            </a:avLst>
          </a:prstGeom>
          <a:solidFill>
            <a:srgbClr val="D0E3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32120" y="1225295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81F5C"/>
                </a:solidFill>
                <a:latin typeface="Manrope"/>
              </a:rPr>
              <a:t>Customer ROI (5 years)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59" y="117043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334EAC"/>
                </a:solidFill>
                <a:latin typeface="Manrope"/>
              </a:rPr>
              <a:t>205%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51790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(Benefits − Fees paid) ÷ Fees 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3736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(RM1.61M − RM0.53M) ÷ RM0.53M · Customers gain from Year 1 (161%)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212848"/>
            <a:ext cx="3081528" cy="987552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2322576"/>
            <a:ext cx="17373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dirty="0" err="1">
                <a:solidFill>
                  <a:schemeClr val="accent6"/>
                </a:solidFill>
                <a:latin typeface="Manrope"/>
              </a:rPr>
              <a:t>Orbyte</a:t>
            </a:r>
            <a:r>
              <a:rPr sz="950" b="1" i="0" dirty="0">
                <a:solidFill>
                  <a:schemeClr val="accent6"/>
                </a:solidFill>
                <a:latin typeface="Manrope"/>
              </a:rPr>
              <a:t> ROI on </a:t>
            </a:r>
            <a:r>
              <a:rPr sz="950" b="1" i="0" dirty="0" err="1">
                <a:solidFill>
                  <a:schemeClr val="accent6"/>
                </a:solidFill>
                <a:latin typeface="Manrope"/>
              </a:rPr>
              <a:t>GreenReady</a:t>
            </a:r>
            <a:endParaRPr sz="950" b="1" i="0" dirty="0">
              <a:solidFill>
                <a:schemeClr val="accent6"/>
              </a:solidFill>
              <a:latin typeface="Manrop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24344" y="2283211"/>
            <a:ext cx="105156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 i="0" dirty="0">
                <a:solidFill>
                  <a:schemeClr val="accent6"/>
                </a:solidFill>
                <a:latin typeface="Manrope"/>
              </a:rPr>
              <a:t>67.0</a:t>
            </a:r>
            <a:r>
              <a:rPr lang="en-MY" sz="1700" b="1" i="0" dirty="0">
                <a:solidFill>
                  <a:schemeClr val="accent6"/>
                </a:solidFill>
                <a:latin typeface="Manrope"/>
              </a:rPr>
              <a:t>%</a:t>
            </a:r>
            <a:endParaRPr sz="1700" b="1" i="0" dirty="0">
              <a:solidFill>
                <a:srgbClr val="334EAC"/>
              </a:solidFill>
              <a:latin typeface="Manrope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32120" y="2615184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 dirty="0">
                <a:solidFill>
                  <a:schemeClr val="accent6"/>
                </a:solidFill>
                <a:latin typeface="Roboto"/>
              </a:rPr>
              <a:t>(Income − Spend) ÷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834640"/>
            <a:ext cx="2743200" cy="122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chemeClr val="accent6"/>
                </a:solidFill>
                <a:latin typeface="Roboto"/>
              </a:rPr>
              <a:t>(RM2.68M − RM1.60M) ÷ RM1.60M · Break-even in Year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3310128"/>
            <a:ext cx="3081528" cy="987552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3419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81F5C"/>
                </a:solidFill>
                <a:latin typeface="Manrope"/>
              </a:rPr>
              <a:t>Net present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336499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334EAC"/>
                </a:solidFill>
                <a:latin typeface="Manrope"/>
              </a:rPr>
              <a:t>RM345k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71246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Net cash flows discounted at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9319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E6B8A"/>
                </a:solidFill>
                <a:latin typeface="Roboto"/>
              </a:rPr>
              <a:t>Low end of seed-stage practice (30–45%) [17] · Year-5 margin 49.2%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Key risks and fallback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143000"/>
            <a:ext cx="3017520" cy="3291840"/>
          </a:xfrm>
          <a:prstGeom prst="roundRect">
            <a:avLst>
              <a:gd name="adj" fmla="val 6000"/>
            </a:avLst>
          </a:prstGeom>
          <a:solidFill>
            <a:srgbClr val="081F5C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" y="1371600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5" name="Picture 4" descr="TbAlert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8132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3716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AD6EB"/>
                </a:solidFill>
                <a:latin typeface="Manrope"/>
              </a:rPr>
              <a:t>HARDEST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65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anrope"/>
              </a:rPr>
              <a:t>AI misreads a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774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AD6EB"/>
                </a:solidFill>
                <a:latin typeface="Roboto"/>
              </a:rPr>
              <a:t>Fallback, in three layers: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97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096D1"/>
                </a:solidFill>
                <a:latin typeface="Manrop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7157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8 arithmetic checks against the official tariff catch wrong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278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096D1"/>
                </a:solidFill>
                <a:latin typeface="Manrop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2461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Fields under 85% confidence go to staff for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7581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096D1"/>
                </a:solidFill>
                <a:latin typeface="Manrop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77647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Roboto"/>
              </a:rPr>
              <a:t>Manual entry form if a bill cannot be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143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Other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1430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81F5C"/>
                </a:solidFill>
                <a:latin typeface="Manrope"/>
              </a:rPr>
              <a:t>Mitigation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05072" y="1453895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05072" y="150876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081F5C"/>
                </a:solidFill>
                <a:latin typeface="Roboto"/>
              </a:rPr>
              <a:t>Banks carry 56% of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508760"/>
            <a:ext cx="24871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2 founding banks signed in Year 1; suppliers and SMEs add the other 44%; one bank fewer moves break-even to Year 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05072" y="2185416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05072" y="2240280"/>
            <a:ext cx="1783080" cy="311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 dirty="0">
                <a:solidFill>
                  <a:srgbClr val="081F5C"/>
                </a:solidFill>
                <a:latin typeface="Roboto"/>
              </a:rPr>
              <a:t>Fewer SMEs buy a </a:t>
            </a:r>
            <a:br>
              <a:rPr lang="en-MY" sz="950" b="1" i="0" dirty="0">
                <a:solidFill>
                  <a:srgbClr val="081F5C"/>
                </a:solidFill>
                <a:latin typeface="Roboto"/>
              </a:rPr>
            </a:br>
            <a:r>
              <a:rPr sz="950" b="1" i="0" dirty="0">
                <a:solidFill>
                  <a:srgbClr val="081F5C"/>
                </a:solidFill>
                <a:latin typeface="Roboto"/>
              </a:rPr>
              <a:t>Preparation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40280"/>
            <a:ext cx="248716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At 15% instead of 20%, Year 2 ends just below break-even (−RM3k); test the rate in the pilot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05072" y="2916936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5072" y="297180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081F5C"/>
                </a:solidFill>
                <a:latin typeface="Roboto"/>
              </a:rPr>
              <a:t>Seen as financial advice or unlicensed funding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971800"/>
            <a:ext cx="2487168" cy="295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No scores or ratings; money moves only through licensed banks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05072" y="3648456"/>
            <a:ext cx="4425695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05072" y="37033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081F5C"/>
                </a:solidFill>
                <a:latin typeface="Roboto"/>
              </a:rPr>
              <a:t>SME data exposed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03320"/>
            <a:ext cx="2487168" cy="44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E3B5E"/>
                </a:solidFill>
                <a:latin typeface="Roboto"/>
              </a:rPr>
              <a:t>Anonymous listings, owner consent for every connection, </a:t>
            </a:r>
            <a:r>
              <a:rPr lang="en-US" sz="900">
                <a:solidFill>
                  <a:srgbClr val="2E3B5E"/>
                </a:solidFill>
                <a:latin typeface="Roboto"/>
              </a:rPr>
              <a:t>provide </a:t>
            </a:r>
            <a:r>
              <a:rPr sz="900" b="0" i="0">
                <a:solidFill>
                  <a:srgbClr val="2E3B5E"/>
                </a:solidFill>
                <a:latin typeface="Roboto"/>
              </a:rPr>
              <a:t>PDPA-aligned retention </a:t>
            </a:r>
            <a:r>
              <a:rPr lang="en-US" sz="900">
                <a:solidFill>
                  <a:srgbClr val="2E3B5E"/>
                </a:solidFill>
                <a:latin typeface="Roboto"/>
              </a:rPr>
              <a:t>and DPO</a:t>
            </a:r>
            <a:endParaRPr sz="900" b="0" i="0">
              <a:solidFill>
                <a:srgbClr val="2E3B5E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How Orbyte can work with 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E3B5E"/>
                </a:solidFill>
                <a:latin typeface="Roboto"/>
              </a:rPr>
              <a:t>GreenReady is Orbyte's own module: it reuses what Orbyte already runs and charges [19].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1F5C"/>
                </a:solidFill>
                <a:latin typeface="Manrope"/>
              </a:rPr>
              <a:t>Connect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B8A"/>
                </a:solidFill>
                <a:latin typeface="Roboto"/>
              </a:rPr>
              <a:t>sign-in, roles, 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1591056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E3B5E"/>
                </a:solidFill>
                <a:latin typeface="Roboto"/>
              </a:rPr>
              <a:t>Owner, staff and partner roles; the owner approves each listing and each connection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084831"/>
            <a:ext cx="4846320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139696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1F5C"/>
                </a:solidFill>
                <a:latin typeface="Manrope"/>
              </a:rPr>
              <a:t>Credit wallet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B8A"/>
                </a:solidFill>
                <a:latin typeface="Roboto"/>
              </a:rPr>
              <a:t>one wallet for all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2157984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E3B5E"/>
                </a:solidFill>
                <a:latin typeface="Roboto"/>
              </a:rPr>
              <a:t>RM10 free credit, RM2 per bill and RM79 per Preparation Pack; no new payment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2651760"/>
            <a:ext cx="4846320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706624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1F5C"/>
                </a:solidFill>
                <a:latin typeface="Manrope"/>
              </a:rPr>
              <a:t>eClaim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B8A"/>
                </a:solidFill>
                <a:latin typeface="Roboto"/>
              </a:rPr>
              <a:t>staff expense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724912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E3B5E"/>
                </a:solidFill>
                <a:latin typeface="Roboto"/>
              </a:rPr>
              <a:t>A TNB bill claimed by staff triggers the analysis automatically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3218688"/>
            <a:ext cx="4846320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3273552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1F5C"/>
                </a:solidFill>
                <a:latin typeface="Manrope"/>
              </a:rPr>
              <a:t>eSign + audit log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B8A"/>
                </a:solidFill>
                <a:latin typeface="Roboto"/>
              </a:rPr>
              <a:t>signing and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291840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E3B5E"/>
                </a:solidFill>
                <a:latin typeface="Roboto"/>
              </a:rPr>
              <a:t>The owner signs a supplier's firm quotation; every upload, approval and request is logged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785616"/>
            <a:ext cx="4846320" cy="0"/>
          </a:xfrm>
          <a:prstGeom prst="line">
            <a:avLst/>
          </a:prstGeom>
          <a:ln w="9525">
            <a:solidFill>
              <a:srgbClr val="C3CC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8404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81F5C"/>
                </a:solidFill>
                <a:latin typeface="Manrope"/>
              </a:rPr>
              <a:t>Insights, Marketplace</a:t>
            </a:r>
          </a:p>
          <a:p>
            <a:pPr algn="l">
              <a:lnSpc>
                <a:spcPct val="105000"/>
              </a:lnSpc>
            </a:pPr>
            <a:r>
              <a:rPr sz="850" b="0">
                <a:solidFill>
                  <a:srgbClr val="5E6B8A"/>
                </a:solidFill>
                <a:latin typeface="Roboto"/>
              </a:rPr>
              <a:t>planned by Orbyte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858768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E3B5E"/>
                </a:solidFill>
                <a:latin typeface="Roboto"/>
              </a:rPr>
              <a:t>Energy and CO2e data for Insights; the Opportunity Board as a Marketplace listing (roadmap)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572768"/>
            <a:ext cx="2624328" cy="2788920"/>
          </a:xfrm>
          <a:prstGeom prst="roundRect">
            <a:avLst>
              <a:gd name="adj" fmla="val 6000"/>
            </a:avLst>
          </a:prstGeom>
          <a:solidFill>
            <a:srgbClr val="081F5C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17373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>
                <a:solidFill>
                  <a:srgbClr val="BAD6EB"/>
                </a:solidFill>
                <a:latin typeface="Manrope"/>
              </a:rPr>
              <a:t>WHAT ORBYTE GAINS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574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RM2.68M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23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AD6EB"/>
                </a:solidFill>
                <a:latin typeface="Roboto"/>
              </a:rPr>
              <a:t>new income over 5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8072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Year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172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AD6EB"/>
                </a:solidFill>
                <a:latin typeface="Roboto"/>
              </a:rPr>
              <a:t>cumulative break-even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557015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10,000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22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BAD6EB"/>
                </a:solidFill>
                <a:latin typeface="Roboto"/>
              </a:rPr>
              <a:t>SMEs using GreenReady inside Orbyte by Year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09378"/>
            <a:ext cx="7717536" cy="12721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dirty="0">
                <a:solidFill>
                  <a:srgbClr val="5E6B8A"/>
                </a:solidFill>
                <a:latin typeface="Roboto"/>
              </a:rPr>
              <a:t>Insights and Marketplace are on </a:t>
            </a:r>
            <a:r>
              <a:rPr sz="800" b="0" dirty="0" err="1">
                <a:solidFill>
                  <a:srgbClr val="5E6B8A"/>
                </a:solidFill>
                <a:latin typeface="Roboto"/>
              </a:rPr>
              <a:t>Orbyte's</a:t>
            </a:r>
            <a:r>
              <a:rPr sz="800" b="0" dirty="0">
                <a:solidFill>
                  <a:srgbClr val="5E6B8A"/>
                </a:solidFill>
                <a:latin typeface="Roboto"/>
              </a:rPr>
              <a:t> roadmap, not yet launched</a:t>
            </a:r>
            <a:r>
              <a:rPr lang="en-MY" sz="800" b="0" dirty="0">
                <a:solidFill>
                  <a:srgbClr val="5E6B8A"/>
                </a:solidFill>
                <a:latin typeface="Roboto"/>
              </a:rPr>
              <a:t>. Prepared for </a:t>
            </a:r>
            <a:r>
              <a:rPr lang="en-MY" sz="800" b="0" dirty="0" err="1">
                <a:solidFill>
                  <a:srgbClr val="5E6B8A"/>
                </a:solidFill>
                <a:latin typeface="Roboto"/>
              </a:rPr>
              <a:t>Orbyte’s</a:t>
            </a:r>
            <a:r>
              <a:rPr lang="en-MY" sz="800" b="0" dirty="0">
                <a:solidFill>
                  <a:srgbClr val="5E6B8A"/>
                </a:solidFill>
                <a:latin typeface="Roboto"/>
              </a:rPr>
              <a:t> future roadmap.</a:t>
            </a:r>
            <a:r>
              <a:rPr sz="800" b="0" dirty="0">
                <a:solidFill>
                  <a:srgbClr val="5E6B8A"/>
                </a:solidFill>
                <a:latin typeface="Roboto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AI usage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E3B5E"/>
                </a:solidFill>
                <a:latin typeface="Roboto"/>
              </a:rPr>
              <a:t>Every AI tool, LLM, API, dataset and model used in the build or the product.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572768"/>
          <a:ext cx="7717536" cy="2304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Tool / model / dataset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Type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Used for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nrope"/>
                        </a:rPr>
                        <a:t>Where (build or product)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08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5DCE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Future enhancement and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41832" y="1737360"/>
            <a:ext cx="5943600" cy="0"/>
          </a:xfrm>
          <a:prstGeom prst="line">
            <a:avLst/>
          </a:prstGeom>
          <a:ln w="19050">
            <a:solidFill>
              <a:srgbClr val="7096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13232" y="1508760"/>
            <a:ext cx="457200" cy="457200"/>
          </a:xfrm>
          <a:prstGeom prst="ellipse">
            <a:avLst/>
          </a:prstGeom>
          <a:solidFill>
            <a:srgbClr val="08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nrope"/>
              </a:rPr>
              <a:t>Y1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1360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04872"/>
            <a:ext cx="13423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Klang Valley pilot: 300 SMEs, 2 founding banks, 5–10 SEDA-registered suppliers</a:t>
            </a:r>
          </a:p>
        </p:txBody>
      </p:sp>
      <p:sp>
        <p:nvSpPr>
          <p:cNvPr id="8" name="Oval 7"/>
          <p:cNvSpPr/>
          <p:nvPr/>
        </p:nvSpPr>
        <p:spPr>
          <a:xfrm>
            <a:off x="2256739" y="1508760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56739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nrope"/>
              </a:rPr>
              <a:t>Y2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6739" y="2103120"/>
            <a:ext cx="1360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6739" y="2404872"/>
            <a:ext cx="13423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In-app launch to Orbyte users; monthly verified savings from post-upgrade bills</a:t>
            </a:r>
          </a:p>
        </p:txBody>
      </p:sp>
      <p:sp>
        <p:nvSpPr>
          <p:cNvPr id="12" name="Oval 11"/>
          <p:cNvSpPr/>
          <p:nvPr/>
        </p:nvSpPr>
        <p:spPr>
          <a:xfrm>
            <a:off x="3800246" y="1508760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00246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nrope"/>
              </a:rPr>
              <a:t>Y3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0246" y="2103120"/>
            <a:ext cx="1360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246" y="2404872"/>
            <a:ext cx="13423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Bank SME units and supplier associations; supplier bidding with firm quotes</a:t>
            </a:r>
          </a:p>
        </p:txBody>
      </p:sp>
      <p:sp>
        <p:nvSpPr>
          <p:cNvPr id="16" name="Oval 15"/>
          <p:cNvSpPr/>
          <p:nvPr/>
        </p:nvSpPr>
        <p:spPr>
          <a:xfrm>
            <a:off x="5343753" y="1508760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43753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nrope"/>
              </a:rPr>
              <a:t>Y4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3753" y="2103120"/>
            <a:ext cx="1360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3753" y="2404872"/>
            <a:ext cx="13423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Other states; Sabah and Sarawak tariffs; myTNB and smart-meter import</a:t>
            </a:r>
          </a:p>
        </p:txBody>
      </p:sp>
      <p:sp>
        <p:nvSpPr>
          <p:cNvPr id="20" name="Oval 19"/>
          <p:cNvSpPr/>
          <p:nvPr/>
        </p:nvSpPr>
        <p:spPr>
          <a:xfrm>
            <a:off x="6887260" y="1508760"/>
            <a:ext cx="457200" cy="457200"/>
          </a:xfrm>
          <a:prstGeom prst="ellipse">
            <a:avLst/>
          </a:prstGeom>
          <a:solidFill>
            <a:srgbClr val="334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7260" y="1508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anrope"/>
              </a:rPr>
              <a:t>Y5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7260" y="2103120"/>
            <a:ext cx="13606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81F5C"/>
                </a:solidFill>
                <a:latin typeface="Manrope"/>
              </a:rPr>
              <a:t>Deepen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7260" y="2404872"/>
            <a:ext cx="13423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2E3B5E"/>
                </a:solidFill>
                <a:latin typeface="Roboto"/>
              </a:rPr>
              <a:t>Motors, chillers and refrigeration; investor portfolio view; Orbyte Marketplace listing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749039"/>
            <a:ext cx="771753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12700" dir="5400000" algn="t" rotWithShape="0">
              <a:srgbClr val="081F5C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/>
          </a:p>
        </p:txBody>
      </p:sp>
      <p:pic>
        <p:nvPicPr>
          <p:cNvPr id="25" name="Picture 24" descr="TbTrendingUp_334E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22776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71600" y="3803904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081F5C"/>
                </a:solidFill>
                <a:latin typeface="Roboto"/>
              </a:rPr>
              <a:t>Growth path: </a:t>
            </a:r>
            <a:r>
              <a:rPr sz="950" b="0" i="0">
                <a:solidFill>
                  <a:srgbClr val="2E3B5E"/>
                </a:solidFill>
                <a:latin typeface="Roboto"/>
              </a:rPr>
              <a:t>300 → 1,500 → 3,000 → 6,000 → 10,000 active SMEs. Marketing stays at 8–21% of income, led by Orbyte in-app prompts, WhatsApp onboarding and bank and supplier partners.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sz="28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3840480" cy="324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2"/>
              </a:rPr>
              <a:t>SME Corp Malaysia (DOSM) — Profile of MSMEs 2023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[2]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3"/>
              </a:rPr>
              <a:t>DOSM — Economic Census 2023: Food &amp; Beverage Services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[3]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4"/>
              </a:rPr>
              <a:t>DOSM — MSMEs Performance 2025 (Jul 2026)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[4]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5"/>
              </a:rPr>
              <a:t>American Express SME Business Barometer, UK (Jul 2026)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[5]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6"/>
              </a:rPr>
              <a:t>UOB Business Outlook Study 2026, via Business Today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[6]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7"/>
              </a:rPr>
              <a:t>The Vibes — SMEs and mounting ESG demands (Dec 2025)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[7]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8"/>
              </a:rPr>
              <a:t>Plus Xnergy — TNB tariff, Low Voltage General rates (Jul 2025)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[8]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9"/>
              </a:rPr>
              <a:t>Energy Commission — Grid Emission Factor 2022–2024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[9]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0"/>
              </a:rPr>
              <a:t>Salleh et al., UNITEN (2018) — inverter aircon energy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5152" y="1188720"/>
            <a:ext cx="3840480" cy="324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[10]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1"/>
              </a:rPr>
              <a:t>Green Energy &amp; Fuel Research (2026) — LED retrofit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[11]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2"/>
              </a:rPr>
              <a:t>EPJ Web of Conferences (2026) — rooftop PV, KL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[12]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3"/>
              </a:rPr>
              <a:t>Trexon — TNB tariff 2026 and AFA surcharge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[13]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4"/>
              </a:rPr>
              <a:t>Bank Negara Malaysia — Low Carbon Transition Facility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[14]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5"/>
              </a:rPr>
              <a:t>Hong Leong Bank — SME Solar Financing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[15]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6"/>
              </a:rPr>
              <a:t>Securities Commission — Recognized Market Operators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[16]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7"/>
              </a:rPr>
              <a:t>DFDL — PDPA (Amendment) Act 2024 obligations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[17]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8"/>
              </a:rPr>
              <a:t>OpenForest, Bukku, WhySolar — price and rate benchmarks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[18]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19"/>
              </a:rPr>
              <a:t>DOSM Salaries &amp; Wages Survey 2025, via RinggitPlus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 i="0">
                <a:solidFill>
                  <a:srgbClr val="334EAC"/>
                </a:solidFill>
                <a:latin typeface="Manrope"/>
              </a:rPr>
              <a:t>[19]  </a:t>
            </a:r>
            <a:r>
              <a:rPr sz="1000" b="0" i="0">
                <a:solidFill>
                  <a:srgbClr val="2E3B5E"/>
                </a:solidFill>
                <a:latin typeface="Roboto"/>
                <a:hlinkClick r:id="rId20"/>
              </a:rPr>
              <a:t>Orbyte (Alpha Red Pro) — SME business operating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9DFD7F46-8045-95CA-7499-5F0BFA2A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>
            <a:extLst>
              <a:ext uri="{FF2B5EF4-FFF2-40B4-BE49-F238E27FC236}">
                <a16:creationId xmlns:a16="http://schemas.microsoft.com/office/drawing/2014/main" id="{EFA4B584-1980-5AEF-A892-6379DBB180F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60120" y="0"/>
            <a:ext cx="4937760" cy="21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4000" err="1"/>
              <a:t>Orbyte</a:t>
            </a:r>
            <a:r>
              <a:rPr lang="en-US" sz="4000"/>
              <a:t>*</a:t>
            </a:r>
            <a:r>
              <a:rPr sz="4000"/>
              <a:t> </a:t>
            </a:r>
            <a:r>
              <a:rPr sz="4000" err="1"/>
              <a:t>GreenReady</a:t>
            </a:r>
            <a:endParaRPr sz="4000"/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334EAC"/>
                </a:solidFill>
                <a:latin typeface="Roboto"/>
              </a:rPr>
              <a:t>From Bills to Better Business</a:t>
            </a:r>
            <a:r>
              <a:rPr lang="en-US" sz="1600" b="0">
                <a:solidFill>
                  <a:srgbClr val="334EAC"/>
                </a:solidFill>
                <a:latin typeface="Roboto"/>
              </a:rPr>
              <a:t>!</a:t>
            </a:r>
            <a:endParaRPr sz="1600" b="0">
              <a:solidFill>
                <a:srgbClr val="334EAC"/>
              </a:solidFill>
              <a:latin typeface="Roboto"/>
            </a:endParaRPr>
          </a:p>
        </p:txBody>
      </p:sp>
      <p:pic>
        <p:nvPicPr>
          <p:cNvPr id="226" name="Picture 225" descr="logo_mark.png">
            <a:extLst>
              <a:ext uri="{FF2B5EF4-FFF2-40B4-BE49-F238E27FC236}">
                <a16:creationId xmlns:a16="http://schemas.microsoft.com/office/drawing/2014/main" id="{33A2A96A-D2ED-B4E3-1348-95462B41A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571750"/>
            <a:ext cx="2575813" cy="1972216"/>
          </a:xfrm>
          <a:prstGeom prst="rect">
            <a:avLst/>
          </a:prstGeom>
        </p:spPr>
      </p:pic>
      <p:sp>
        <p:nvSpPr>
          <p:cNvPr id="4" name="Google Shape;599;p52">
            <a:extLst>
              <a:ext uri="{FF2B5EF4-FFF2-40B4-BE49-F238E27FC236}">
                <a16:creationId xmlns:a16="http://schemas.microsoft.com/office/drawing/2014/main" id="{1A660D88-8A53-9335-44EA-FD14A2C38ACC}"/>
              </a:ext>
            </a:extLst>
          </p:cNvPr>
          <p:cNvSpPr txBox="1">
            <a:spLocks/>
          </p:cNvSpPr>
          <p:nvPr/>
        </p:nvSpPr>
        <p:spPr>
          <a:xfrm>
            <a:off x="2428021" y="3028508"/>
            <a:ext cx="35442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6500" b="1" i="0" u="none" strike="noStrike" cap="none" spc="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anrope"/>
              <a:buNone/>
              <a:defRPr sz="5200" b="1" i="0" u="none" strike="noStrike" cap="none" spc="0">
                <a:solidFill>
                  <a:srgbClr val="191919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r>
              <a:rPr lang="en-MY" sz="44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3215090"/>
      </p:ext>
    </p:extLst>
  </p:cSld>
  <p:clrMapOvr>
    <a:masterClrMapping/>
  </p:clrMapOvr>
</p:sld>
</file>

<file path=ppt/theme/theme1.xml><?xml version="1.0" encoding="utf-8"?>
<a:theme xmlns:a="http://schemas.openxmlformats.org/drawingml/2006/main" name="Brand Key Pitch Deck by Slidesgo">
  <a:themeElements>
    <a:clrScheme name="GreenReady">
      <a:dk1>
        <a:srgbClr val="081F5C"/>
      </a:dk1>
      <a:lt1>
        <a:srgbClr val="EDF1F6"/>
      </a:lt1>
      <a:dk2>
        <a:srgbClr val="8C9AB5"/>
      </a:dk2>
      <a:lt2>
        <a:srgbClr val="7096D1"/>
      </a:lt2>
      <a:accent1>
        <a:srgbClr val="334EAC"/>
      </a:accent1>
      <a:accent2>
        <a:srgbClr val="7096D1"/>
      </a:accent2>
      <a:accent3>
        <a:srgbClr val="BAD6EB"/>
      </a:accent3>
      <a:accent4>
        <a:srgbClr val="D0E3FF"/>
      </a:accent4>
      <a:accent5>
        <a:srgbClr val="081F5C"/>
      </a:accent5>
      <a:accent6>
        <a:srgbClr val="F7F2EB"/>
      </a:accent6>
      <a:hlink>
        <a:srgbClr val="334EAC"/>
      </a:hlink>
      <a:folHlink>
        <a:srgbClr val="7096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2337</Words>
  <Application>Microsoft Office PowerPoint</Application>
  <PresentationFormat>On-screen Show (16:9)</PresentationFormat>
  <Paragraphs>319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Proxima Nova</vt:lpstr>
      <vt:lpstr>Roboto Light</vt:lpstr>
      <vt:lpstr>Roboto</vt:lpstr>
      <vt:lpstr>Manrope</vt:lpstr>
      <vt:lpstr>Raleway</vt:lpstr>
      <vt:lpstr>PT Sans</vt:lpstr>
      <vt:lpstr>Arial</vt:lpstr>
      <vt:lpstr>Nunito Light</vt:lpstr>
      <vt:lpstr>Brand Key Pitch Deck by Slidesgo</vt:lpstr>
      <vt:lpstr>Slidesgo Final Pages</vt:lpstr>
      <vt:lpstr>Orbyte* GreenReady From Bills to Better Business!</vt:lpstr>
      <vt:lpstr>Problem statements</vt:lpstr>
      <vt:lpstr>Solution proposed</vt:lpstr>
      <vt:lpstr>Scope</vt:lpstr>
      <vt:lpstr>SDG alignment</vt:lpstr>
      <vt:lpstr>Technical approach / system architecture</vt:lpstr>
      <vt:lpstr>Key features</vt:lpstr>
      <vt:lpstr>What makes it unique</vt:lpstr>
      <vt:lpstr>Expected impact</vt:lpstr>
      <vt:lpstr>Target users</vt:lpstr>
      <vt:lpstr>Feasibility: market</vt:lpstr>
      <vt:lpstr>Feasibility: business model</vt:lpstr>
      <vt:lpstr>ROI calculation</vt:lpstr>
      <vt:lpstr>Key risks and fallback</vt:lpstr>
      <vt:lpstr>How Orbyte can work with our idea</vt:lpstr>
      <vt:lpstr>AI usage declaration</vt:lpstr>
      <vt:lpstr>Future enhancement and roadmap</vt:lpstr>
      <vt:lpstr>References</vt:lpstr>
      <vt:lpstr>Orbyte* GreenReady From Bills to Better Business!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CHUA PEI YING</cp:lastModifiedBy>
  <cp:revision>3</cp:revision>
  <dcterms:modified xsi:type="dcterms:W3CDTF">2026-10-24T10:42:10Z</dcterms:modified>
</cp:coreProperties>
</file>